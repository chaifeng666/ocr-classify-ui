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4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B455"/>
    <a:srgbClr val="FFDE24"/>
    <a:srgbClr val="0076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開場：今天示範如何用對話式 AI，一步一步做出能在本機辨識單據、分類並匯出 GBA 受款人 XML 的小工具。每一步都有可複製的提示詞和實際操作畫面。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說明時間配置與五項教材。第 5 項題目檔標 ★，裡面有實作規範與半成品，避免學員卡關。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從實際業務痛點出發，每個痛點都對應到提示詞裡的一個條件。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接下來每一步都會示範一段提示詞和實際操作畫面。畫面均以練習用假資料在本機實際執行擷取。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0 一律先設定角色與工作規範，之後每一步都在這個前提下進行。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強調先要 UI 原型，畫面對了再寫功能。示範畫面是用 3 張假發票、2 張假領據操作。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這一步是整個工具的核心：資料不離開電腦。離線版已包含 OCR 引擎與語言資料。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讓學員看右側的命中關鍵字，理解 AI 是依什麼判斷。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強調人工核對不能省：AI 結果一定要對照原圖。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規格文件就是最好的提示詞：上傳規格，AI 照官方格式做。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SBOM 是資安稽核可引用的證據。字型、CDN 這類不起眼的元件也要列。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把示範提示詞歸納成五格規格，學員實作就用這個格式。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每個技巧都對應到前面某個 STEP 的示範提示詞。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三關都要由人寫進提示詞，AI 不會主動想到。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人工登打時間本案未實測，請學員代入自己單位的數字。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依學員經驗分組。題目、半成品與規範都在 ★第 5 項題目檔。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三段維護提示詞為範本。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以四個問題收尾，接 QA。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C19B2F-056B-A978-451B-2382F3593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2245AD-4AA1-3B59-D2C5-7143ABB97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72A740-7192-1ACB-3050-40C668A0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BFF514-4FFF-C5A1-FA16-15F0062D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7075E7-6CE8-4FCC-F0B9-7F4E15E6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572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20F48-52B9-D832-7530-272B4CAA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297718-F810-0500-A264-2AB058CF4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1D2FEC-37ED-B337-3AA0-646DD70C4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85C315-8105-CCFF-2643-C2CE084BC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EDF60A-DB0B-7B86-2C4D-B04FDA03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159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DEA219-2FE3-49A4-44F1-267F9250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1B9947-9923-93DD-B04E-C664E892D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5B0863-83BC-5592-94B6-696CC3256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A29353-EB8B-AA0D-3ACD-DE2B658D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50F338-6A96-CBEA-42CE-F4BBEE5A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9748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864733-6CDA-104D-1B1A-E47F32D5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ACBC80-A4C0-108B-EB2B-BF9F3FCA6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0A1CB5-F607-1306-6874-025B5A5CB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C2912B-701D-B255-B6BA-E12E9663B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33CEA5-E7E6-E0BD-72C5-B78753BC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CB1BBB-5906-D5DC-33F1-17445AFB3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0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88C0E4-41C9-0E38-9412-7CAAA0B2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1C35C1-5DEB-C6E5-895D-5F914D9B3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9F0BC1-A13A-A442-C635-5F253A44F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44975E9-F8A3-E200-323E-5DE09CCBC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09B5F4C-552F-6E02-C392-3867AC277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6307C07-6414-B44F-D0B0-0913E65E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92FA9CA-9D2E-12AC-C981-C6D4A446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1338CED-DDE3-6D54-998A-3607201B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752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FE9A2F3D-7C28-CF21-5259-042BEAB72342}"/>
              </a:ext>
            </a:extLst>
          </p:cNvPr>
          <p:cNvGrpSpPr/>
          <p:nvPr userDrawn="1"/>
        </p:nvGrpSpPr>
        <p:grpSpPr>
          <a:xfrm>
            <a:off x="0" y="6638544"/>
            <a:ext cx="12192000" cy="220097"/>
            <a:chOff x="0" y="6638544"/>
            <a:chExt cx="12192000" cy="22009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C71FF97-5CD8-999F-B7D2-AC1A612F52A9}"/>
                </a:ext>
              </a:extLst>
            </p:cNvPr>
            <p:cNvSpPr/>
            <p:nvPr/>
          </p:nvSpPr>
          <p:spPr>
            <a:xfrm>
              <a:off x="0" y="6638544"/>
              <a:ext cx="12192000" cy="2194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平行四邊形 3">
              <a:extLst>
                <a:ext uri="{FF2B5EF4-FFF2-40B4-BE49-F238E27FC236}">
                  <a16:creationId xmlns:a16="http://schemas.microsoft.com/office/drawing/2014/main" id="{A20B05D3-4256-EE9D-581E-1B8A241C986A}"/>
                </a:ext>
              </a:extLst>
            </p:cNvPr>
            <p:cNvSpPr/>
            <p:nvPr/>
          </p:nvSpPr>
          <p:spPr>
            <a:xfrm>
              <a:off x="910661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0076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" name="平行四邊形 4">
              <a:extLst>
                <a:ext uri="{FF2B5EF4-FFF2-40B4-BE49-F238E27FC236}">
                  <a16:creationId xmlns:a16="http://schemas.microsoft.com/office/drawing/2014/main" id="{43128ACA-B4BA-F88F-7CAF-8DFC4130FC8B}"/>
                </a:ext>
              </a:extLst>
            </p:cNvPr>
            <p:cNvSpPr/>
            <p:nvPr/>
          </p:nvSpPr>
          <p:spPr>
            <a:xfrm>
              <a:off x="1546380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FFDE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平行四邊形 5">
              <a:extLst>
                <a:ext uri="{FF2B5EF4-FFF2-40B4-BE49-F238E27FC236}">
                  <a16:creationId xmlns:a16="http://schemas.microsoft.com/office/drawing/2014/main" id="{4E0DE298-3385-1EB1-9488-F7E8302390E4}"/>
                </a:ext>
              </a:extLst>
            </p:cNvPr>
            <p:cNvSpPr/>
            <p:nvPr/>
          </p:nvSpPr>
          <p:spPr>
            <a:xfrm>
              <a:off x="2182099" y="6639185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2DB4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301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>
            <a:extLst>
              <a:ext uri="{FF2B5EF4-FFF2-40B4-BE49-F238E27FC236}">
                <a16:creationId xmlns:a16="http://schemas.microsoft.com/office/drawing/2014/main" id="{23D1976B-EAA2-3F8B-FF49-B5A35E060FAE}"/>
              </a:ext>
            </a:extLst>
          </p:cNvPr>
          <p:cNvGrpSpPr/>
          <p:nvPr userDrawn="1"/>
        </p:nvGrpSpPr>
        <p:grpSpPr>
          <a:xfrm>
            <a:off x="0" y="6638544"/>
            <a:ext cx="12192000" cy="220097"/>
            <a:chOff x="0" y="6638544"/>
            <a:chExt cx="12192000" cy="22009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6BC673-A027-4C6F-96B7-EAB445F7CCB7}"/>
                </a:ext>
              </a:extLst>
            </p:cNvPr>
            <p:cNvSpPr/>
            <p:nvPr/>
          </p:nvSpPr>
          <p:spPr>
            <a:xfrm>
              <a:off x="0" y="6638544"/>
              <a:ext cx="12192000" cy="2194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7ACC3578-3264-85EB-40D0-12929AD7B2C1}"/>
                </a:ext>
              </a:extLst>
            </p:cNvPr>
            <p:cNvSpPr/>
            <p:nvPr/>
          </p:nvSpPr>
          <p:spPr>
            <a:xfrm>
              <a:off x="910661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0076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平行四邊形 14">
              <a:extLst>
                <a:ext uri="{FF2B5EF4-FFF2-40B4-BE49-F238E27FC236}">
                  <a16:creationId xmlns:a16="http://schemas.microsoft.com/office/drawing/2014/main" id="{526A2CD7-C3B8-08E1-33F2-0B67CBDEE586}"/>
                </a:ext>
              </a:extLst>
            </p:cNvPr>
            <p:cNvSpPr/>
            <p:nvPr/>
          </p:nvSpPr>
          <p:spPr>
            <a:xfrm>
              <a:off x="1546380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FFDE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平行四邊形 15">
              <a:extLst>
                <a:ext uri="{FF2B5EF4-FFF2-40B4-BE49-F238E27FC236}">
                  <a16:creationId xmlns:a16="http://schemas.microsoft.com/office/drawing/2014/main" id="{87DAD3EE-B77B-1CF9-4EF0-23F946E63E4B}"/>
                </a:ext>
              </a:extLst>
            </p:cNvPr>
            <p:cNvSpPr/>
            <p:nvPr/>
          </p:nvSpPr>
          <p:spPr>
            <a:xfrm>
              <a:off x="2182099" y="6639185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2DB4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4" name="標題 1">
            <a:extLst>
              <a:ext uri="{FF2B5EF4-FFF2-40B4-BE49-F238E27FC236}">
                <a16:creationId xmlns:a16="http://schemas.microsoft.com/office/drawing/2014/main" id="{1F6BD97B-624A-0E83-489F-0A0864E27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248679"/>
            <a:ext cx="10515600" cy="642581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037D7D9-9FC4-A869-D10D-0F22239CE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74" y="992187"/>
            <a:ext cx="11394233" cy="55205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6614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9D0E0718-6EFA-390D-7A06-081239C07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248679"/>
            <a:ext cx="10515600" cy="642581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83F5726F-D6C7-BD8E-4370-16443AB80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74" y="992187"/>
            <a:ext cx="11394233" cy="55205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6075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5DB55E-77A2-67EA-06E1-E1DF78CF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9E9FB9-F790-2949-302C-4015FE308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DE4FE95-B7BE-8ECB-1FED-E60087677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47B9A2-BB52-B455-68D0-AD06C3231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8BB24C4-290D-E521-3D47-1605F916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C32724-3A7B-AF39-9C5C-8FE013F5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098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F85E44-C87E-6474-E8C6-5C1AF55D8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8106C3D-6CCF-DFA9-28A3-ED27829E8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B41A5FB-9195-F950-44D8-FBF5B7465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BC8816A-58E2-5230-2ED5-42F40D30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1414FB3-9EFB-A799-0485-5A2C0EDD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CAF79AE-6F04-0E1F-5A2D-B098BBEC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5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EDA21F-8902-0B5C-EA20-3DEBAFEAC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B4826A-EEB5-9CF0-5FA6-99E2180BE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C426F6-5698-C8DF-D453-DBE70B42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130F01-C1A7-3DBF-ED56-67BE4F639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95088E-E435-1C94-0312-7B669A94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6586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8F58C-39C1-D904-2C65-8B35A6BDC0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E860657-92DD-5F24-34FB-4EE8FC68A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6A0336-6862-35C0-685D-A6198648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5668EA-76F2-8C13-E996-B4B5496E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FD9319-80A2-D4D8-FB68-D389D20B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18111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FEF3667-4903-8956-DA86-E4FEA6B3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F47A42-8EC1-7AA8-5748-0052209E9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07FD6F-2296-1BBD-C9F3-D85A0E383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EC959E-8D91-E6E6-38E2-E9344C608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3754AD-EC86-DF9A-0CF3-2630A3345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357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4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C00000"/>
                </a:solidFill>
                <a:latin typeface="微軟正黑體"/>
                <a:ea typeface="微軟正黑體"/>
              </a:rPr>
              <a:t>用生成式 AI 產製本地 OCR 小工具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76BC"/>
                </a:solidFill>
                <a:latin typeface="微軟正黑體"/>
                <a:ea typeface="微軟正黑體"/>
              </a:rPr>
              <a:t>案例：會計單據 OCR 辨識 → 分類 → GBA 受款人 XML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154680"/>
            <a:ext cx="2011680" cy="731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微軟正黑體"/>
                <a:ea typeface="微軟正黑體"/>
              </a:rPr>
              <a:t>主計 AI 應用與實作課程｜講授 30 分・實作 30 分・QA 15 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270"/>
                </a:solidFill>
                <a:latin typeface="微軟正黑體"/>
                <a:ea typeface="微軟正黑體"/>
              </a:rPr>
              <a:t>OOO單位　2026 年 10 月　（教材內容均為練習用假資料）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274320"/>
            <a:ext cx="1060704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課程地圖與 5 項教材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338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講授 30 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74519"/>
            <a:ext cx="3145536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發想 → STEP 0～6 示範 → 寫法技巧 → 資安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23444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79" y="123444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8016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實作 30 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1" y="1874519"/>
            <a:ext cx="3145536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A／B／C 三組分層任務，用 ★題目檔與素材包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234440"/>
            <a:ext cx="3474720" cy="16002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123444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28016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軟正黑體"/>
                <a:ea typeface="微軟正黑體"/>
              </a:rPr>
              <a:t>QA 15 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1874519"/>
            <a:ext cx="3145536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效益試算、精進方向、單位導入問題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00000"/>
                </a:solidFill>
                <a:latin typeface="微軟正黑體"/>
                <a:ea typeface="微軟正黑體"/>
              </a:rPr>
              <a:t>本課 5 項教材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657600"/>
            <a:ext cx="502920" cy="50292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85032"/>
            <a:ext cx="1325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  <a:latin typeface="微軟正黑體"/>
                <a:ea typeface="微軟正黑體"/>
              </a:rPr>
              <a:t>簡報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本檔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98064" y="35204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35224" y="3657600"/>
            <a:ext cx="502920" cy="50292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3685032"/>
            <a:ext cx="1325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  <a:latin typeface="微軟正黑體"/>
                <a:ea typeface="微軟正黑體"/>
              </a:rPr>
              <a:t>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5224" y="4297680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依演示順序 STEP 0～6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7488" y="35204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84648" y="3657600"/>
            <a:ext cx="502920" cy="50292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7" y="3685032"/>
            <a:ext cx="1325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  <a:latin typeface="微軟正黑體"/>
                <a:ea typeface="微軟正黑體"/>
              </a:rPr>
              <a:t>素材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4297680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假發票、假領據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35204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34071" y="3657600"/>
            <a:ext cx="502920" cy="50292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3685032"/>
            <a:ext cx="1325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  <a:latin typeface="微軟正黑體"/>
                <a:ea typeface="微軟正黑體"/>
              </a:rPr>
              <a:t>成果檔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1" y="4297680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工具、離線版、匯出範例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46336" y="352044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83496" y="365760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★5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7856" y="3685032"/>
            <a:ext cx="13258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00000"/>
                </a:solidFill>
                <a:latin typeface="微軟正黑體"/>
                <a:ea typeface="微軟正黑體"/>
              </a:rPr>
              <a:t>題目檔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83496" y="4297680"/>
            <a:ext cx="1874519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半成品＋實作規範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微軟正黑體"/>
                <a:ea typeface="微軟正黑體"/>
              </a:rPr>
              <a:t>★ 第 5 項附「實作規範」，動手前必讀。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274320"/>
            <a:ext cx="1060704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發想：三個登打痛點，三個設計決策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338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2834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痛點：單據一張張登打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39"/>
            <a:ext cx="3145536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發票、收據、領據格式各異，手打易錯。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200400"/>
            <a:ext cx="314553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18688"/>
            <a:ext cx="301752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76BC"/>
                </a:solidFill>
                <a:latin typeface="微軟正黑體"/>
                <a:ea typeface="微軟正黑體"/>
              </a:rPr>
              <a:t>決策：OCR 辨識＋人工核對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280160"/>
            <a:ext cx="3474720" cy="2834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79" y="128016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25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痛點：個資不能外送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1" y="1920239"/>
            <a:ext cx="3145536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身分證、地址、帳號不能上傳雲端或 AI。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62271" y="3200400"/>
            <a:ext cx="314553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3218688"/>
            <a:ext cx="301752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0000"/>
                </a:solidFill>
                <a:latin typeface="微軟正黑體"/>
                <a:ea typeface="微軟正黑體"/>
              </a:rPr>
              <a:t>決策：瀏覽器本機處理，不上傳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280160"/>
            <a:ext cx="3474720" cy="2834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19" y="128016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325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痛點：結果還要再轉檔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1920239"/>
            <a:ext cx="3145536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辨識完仍需整理成 Excel、付款憑單。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1" y="3200400"/>
            <a:ext cx="314553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DB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3218688"/>
            <a:ext cx="3017520" cy="6949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DB455"/>
                </a:solidFill>
                <a:latin typeface="微軟正黑體"/>
                <a:ea typeface="微軟正黑體"/>
              </a:rPr>
              <a:t>決策：直接匯出 Excel 與 GBA XML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軟正黑體"/>
                <a:ea typeface="微軟正黑體"/>
              </a:rPr>
              <a:t>三個決策都要寫進提示詞：限制條件不是附註，而是工具架構的起點。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87568"/>
            <a:ext cx="106070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先講清楚</a:t>
            </a:r>
            <a:r>
              <a:rPr sz="1700" b="1">
                <a:solidFill>
                  <a:srgbClr val="FFDE24"/>
                </a:solidFill>
                <a:latin typeface="微軟正黑體"/>
                <a:ea typeface="微軟正黑體"/>
              </a:rPr>
              <a:t>痛點與限制</a:t>
            </a: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，AI 才做得對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274320"/>
            <a:ext cx="1060704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流程總覽：STEP 0～6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338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4" name="Oval 3"/>
          <p:cNvSpPr/>
          <p:nvPr/>
        </p:nvSpPr>
        <p:spPr>
          <a:xfrm>
            <a:off x="896112" y="1463040"/>
            <a:ext cx="82296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微軟正黑體"/>
                <a:ea typeface="微軟正黑體"/>
              </a:rPr>
              <a:t>角色與規範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10512" y="1737360"/>
            <a:ext cx="256032" cy="274320"/>
          </a:xfrm>
          <a:prstGeom prst="rightArrow">
            <a:avLst/>
          </a:prstGeom>
          <a:solidFill>
            <a:srgbClr val="B8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23744" y="1463040"/>
            <a:ext cx="822960" cy="8229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423160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微軟正黑體"/>
                <a:ea typeface="微軟正黑體"/>
              </a:rPr>
              <a:t>UI 原型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38144" y="1737360"/>
            <a:ext cx="256032" cy="274320"/>
          </a:xfrm>
          <a:prstGeom prst="rightArrow">
            <a:avLst/>
          </a:prstGeom>
          <a:solidFill>
            <a:srgbClr val="B8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51376" y="1463040"/>
            <a:ext cx="822960" cy="8229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4" y="2423160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微軟正黑體"/>
                <a:ea typeface="微軟正黑體"/>
              </a:rPr>
              <a:t>本機 OCR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65776" y="1737360"/>
            <a:ext cx="256032" cy="274320"/>
          </a:xfrm>
          <a:prstGeom prst="rightArrow">
            <a:avLst/>
          </a:prstGeom>
          <a:solidFill>
            <a:srgbClr val="B8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79007" y="1463040"/>
            <a:ext cx="822960" cy="82296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5816" y="2423160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微軟正黑體"/>
                <a:ea typeface="微軟正黑體"/>
              </a:rPr>
              <a:t>單據分類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693407" y="1737360"/>
            <a:ext cx="256032" cy="274320"/>
          </a:xfrm>
          <a:prstGeom prst="rightArrow">
            <a:avLst/>
          </a:prstGeom>
          <a:solidFill>
            <a:srgbClr val="B8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06640" y="1463040"/>
            <a:ext cx="822960" cy="82296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2423160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微軟正黑體"/>
                <a:ea typeface="微軟正黑體"/>
              </a:rPr>
              <a:t>欄位核對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21040" y="1737360"/>
            <a:ext cx="256032" cy="274320"/>
          </a:xfrm>
          <a:prstGeom prst="rightArrow">
            <a:avLst/>
          </a:prstGeom>
          <a:solidFill>
            <a:srgbClr val="B8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34272" y="1463040"/>
            <a:ext cx="822960" cy="822960"/>
          </a:xfrm>
          <a:prstGeom prst="ellipse">
            <a:avLst/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2B2B2B"/>
                </a:solidFill>
                <a:latin typeface="微軟正黑體"/>
                <a:ea typeface="微軟正黑體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423160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微軟正黑體"/>
                <a:ea typeface="微軟正黑體"/>
              </a:rPr>
              <a:t>GBA 受款 XML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948672" y="1737360"/>
            <a:ext cx="256032" cy="274320"/>
          </a:xfrm>
          <a:prstGeom prst="rightArrow">
            <a:avLst/>
          </a:prstGeom>
          <a:solidFill>
            <a:srgbClr val="B8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61904" y="1463040"/>
            <a:ext cx="822960" cy="8229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68712" y="2423160"/>
            <a:ext cx="1600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B2B2B"/>
                </a:solidFill>
                <a:latin typeface="微軟正黑體"/>
                <a:ea typeface="微軟正黑體"/>
              </a:rPr>
              <a:t>資安 SBOM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54680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154680"/>
            <a:ext cx="201168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每頁左側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3154680"/>
            <a:ext cx="8915400" cy="56692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154680"/>
            <a:ext cx="868680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軟正黑體"/>
                <a:ea typeface="微軟正黑體"/>
              </a:rPr>
              <a:t>示範提示詞，可直接複製（同 2_Prompt 檔）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86200"/>
            <a:ext cx="201168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每頁右側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3886200"/>
            <a:ext cx="8915400" cy="56692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3886200"/>
            <a:ext cx="868680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軟正黑體"/>
                <a:ea typeface="微軟正黑體"/>
              </a:rPr>
              <a:t>實際操作畫面：3 張假發票＋2 張假領據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617720"/>
            <a:ext cx="2011680" cy="566928"/>
          </a:xfrm>
          <a:prstGeom prst="roundRect">
            <a:avLst>
              <a:gd name="adj" fmla="val 8000"/>
            </a:avLst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617720"/>
            <a:ext cx="201168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每頁下方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4617720"/>
            <a:ext cx="8915400" cy="56692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4617720"/>
            <a:ext cx="868680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軟正黑體"/>
                <a:ea typeface="微軟正黑體"/>
              </a:rPr>
              <a:t>預期結果，以及卡關時怎麼辦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24712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STEP 0　角色設定與工作規範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6583680" cy="3794760"/>
          </a:xfrm>
          <a:prstGeom prst="roundRect">
            <a:avLst>
              <a:gd name="adj" fmla="val 8000"/>
            </a:avLst>
          </a:prstGeom>
          <a:solidFill>
            <a:srgbClr val="FFFBE0"/>
          </a:solidFill>
          <a:ln w="15875">
            <a:solidFill>
              <a:srgbClr val="FFD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6309360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微軟正黑體"/>
                <a:ea typeface="微軟正黑體"/>
              </a:rPr>
              <a:t>▼ 示範提示詞（請複製）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19072"/>
            <a:ext cx="6309360" cy="3154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你是協助主計人員開發小工具的助理，請遵守：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1. 不可猜測；資料不足先問我。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2. 無法辨識的欄位標註「無法辨識」，不得自行補值。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3. 日期一律民國 7 碼，金額用阿拉伯數字。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4. 發現疑義（金額不符、缺統編）主動標註。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5. 資料只在本機處理，不上傳伺服器或大語言模型。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6. 不使用中國大陸來源的元件、模型、CDN。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1143000"/>
            <a:ext cx="4480560" cy="7772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0" y="1261872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143000"/>
            <a:ext cx="34747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軟正黑體"/>
                <a:ea typeface="微軟正黑體"/>
              </a:rPr>
              <a:t>不可猜測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2103120"/>
            <a:ext cx="4480560" cy="7772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06640" y="2221991"/>
            <a:ext cx="548640" cy="54864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03120"/>
            <a:ext cx="34747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軟正黑體"/>
                <a:ea typeface="微軟正黑體"/>
              </a:rPr>
              <a:t>標註無法辨識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063240"/>
            <a:ext cx="4480560" cy="7772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06640" y="3182112"/>
            <a:ext cx="548640" cy="54864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軟正黑體"/>
                <a:ea typeface="微軟正黑體"/>
              </a:rPr>
              <a:t>格式統一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4023360"/>
            <a:ext cx="4480560" cy="7772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06640" y="4142232"/>
            <a:ext cx="548640" cy="548640"/>
          </a:xfrm>
          <a:prstGeom prst="ellipse">
            <a:avLst/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B2B2B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023360"/>
            <a:ext cx="34747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軟正黑體"/>
                <a:ea typeface="微軟正黑體"/>
              </a:rPr>
              <a:t>主動標註疑義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AI 複述這 6 條規範，並表示之後會照做。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6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6BC"/>
                </a:solidFill>
                <a:latin typeface="微軟正黑體"/>
                <a:ea typeface="微軟正黑體"/>
              </a:rPr>
              <a:t>卡關時怎麼辦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若 AI 之後自行補值，貼回第 2 條提醒它。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24712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STEP 1　先要 UI 原型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5440680" cy="3794760"/>
          </a:xfrm>
          <a:prstGeom prst="roundRect">
            <a:avLst>
              <a:gd name="adj" fmla="val 8000"/>
            </a:avLst>
          </a:prstGeom>
          <a:solidFill>
            <a:srgbClr val="FFFBE0"/>
          </a:solidFill>
          <a:ln w="15875">
            <a:solidFill>
              <a:srgbClr val="FFD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5120640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微軟正黑體"/>
                <a:ea typeface="微軟正黑體"/>
              </a:rPr>
              <a:t>▼ 示範提示詞（請複製）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19072"/>
            <a:ext cx="5120640" cy="3154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OCR 辨識後要先分類會計單據：銀行帳號、發票、收據、水費、電費、電話費、高鐵、火車、計程車、未分類。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先給我 HTML 的 UI 確認。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分 5 步：上傳、OCR、分類、欄位核對、匯出；每個程序的功能按鈕放在上方。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只放假資料。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097280"/>
            <a:ext cx="5669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A6270"/>
                </a:solidFill>
                <a:latin typeface="微軟正黑體"/>
                <a:ea typeface="微軟正黑體"/>
              </a:rPr>
              <a:t>操作畫面（練習用假資料實際執行）</a:t>
            </a:r>
          </a:p>
        </p:txBody>
      </p:sp>
      <p:pic>
        <p:nvPicPr>
          <p:cNvPr id="8" name="Picture 7" descr="c_s1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44752"/>
            <a:ext cx="5669280" cy="2240715"/>
          </a:xfrm>
          <a:prstGeom prst="rect">
            <a:avLst/>
          </a:prstGeom>
          <a:ln w="12700">
            <a:solidFill>
              <a:srgbClr val="B8C2D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57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單檔 HTML，5 個步驟列在最上方；選檔後列出 5 個檔案的縮圖。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6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6BC"/>
                </a:solidFill>
                <a:latin typeface="微軟正黑體"/>
                <a:ea typeface="微軟正黑體"/>
              </a:rPr>
              <a:t>卡關時怎麼辦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按鈕位置不對：「UI 的每個程序功能，以放在上面」。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24712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STEP 2　接上本機 OCR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5440680" cy="3794760"/>
          </a:xfrm>
          <a:prstGeom prst="roundRect">
            <a:avLst>
              <a:gd name="adj" fmla="val 8000"/>
            </a:avLst>
          </a:prstGeom>
          <a:solidFill>
            <a:srgbClr val="FFFBE0"/>
          </a:solidFill>
          <a:ln w="15875">
            <a:solidFill>
              <a:srgbClr val="FFD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5120640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微軟正黑體"/>
                <a:ea typeface="微軟正黑體"/>
              </a:rPr>
              <a:t>▼ 示範提示詞（請複製）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19072"/>
            <a:ext cx="5120640" cy="3154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第 2 步接上真的 OCR：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用 Tesseract.js 在瀏覽器本機辨識繁體中文＋英文，圖片和 PDF 都可以。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檔案不上傳。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要能選「使用真實檔案」或「使用示範資料」。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完成後自動跳到分類。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097280"/>
            <a:ext cx="5669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A6270"/>
                </a:solidFill>
                <a:latin typeface="微軟正黑體"/>
                <a:ea typeface="微軟正黑體"/>
              </a:rPr>
              <a:t>操作畫面（練習用假資料實際執行）</a:t>
            </a:r>
          </a:p>
        </p:txBody>
      </p:sp>
      <p:pic>
        <p:nvPicPr>
          <p:cNvPr id="8" name="Picture 7" descr="c_s2_o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44752"/>
            <a:ext cx="5669280" cy="2051739"/>
          </a:xfrm>
          <a:prstGeom prst="rect">
            <a:avLst/>
          </a:prstGeom>
          <a:ln w="12700">
            <a:solidFill>
              <a:srgbClr val="B8C2D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57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資料來源顯示「使用真實檔案（5 個）」，5 個檔案進度條都顯示「完成」。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6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6BC"/>
                </a:solidFill>
                <a:latin typeface="微軟正黑體"/>
                <a:ea typeface="微軟正黑體"/>
              </a:rPr>
              <a:t>卡關時怎麼辦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直接雙擊 index.html 只能看示範資料：改用離線版的 start-windows.bat 開啟。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24712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STEP 3　單據自動分類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5440680" cy="3794760"/>
          </a:xfrm>
          <a:prstGeom prst="roundRect">
            <a:avLst>
              <a:gd name="adj" fmla="val 8000"/>
            </a:avLst>
          </a:prstGeom>
          <a:solidFill>
            <a:srgbClr val="FFFBE0"/>
          </a:solidFill>
          <a:ln w="15875">
            <a:solidFill>
              <a:srgbClr val="FFD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5120640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微軟正黑體"/>
                <a:ea typeface="微軟正黑體"/>
              </a:rPr>
              <a:t>▼ 示範提示詞（請複製）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19072"/>
            <a:ext cx="5120640" cy="3154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依關鍵字自動分類，信心低於 70% 標「待確認」。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點一張單據，右側顯示原圖、辨識文字和命中的關鍵字，可一鍵改分類。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分類為「未分類」的單據可刪除。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097280"/>
            <a:ext cx="5669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A6270"/>
                </a:solidFill>
                <a:latin typeface="微軟正黑體"/>
                <a:ea typeface="微軟正黑體"/>
              </a:rPr>
              <a:t>操作畫面（練習用假資料實際執行）</a:t>
            </a:r>
          </a:p>
        </p:txBody>
      </p:sp>
      <p:pic>
        <p:nvPicPr>
          <p:cNvPr id="8" name="Picture 7" descr="c_s3_class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44752"/>
            <a:ext cx="5669280" cy="3482557"/>
          </a:xfrm>
          <a:prstGeom prst="rect">
            <a:avLst/>
          </a:prstGeom>
          <a:ln w="12700">
            <a:solidFill>
              <a:srgbClr val="B8C2D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57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3 張發票、2 張收據；發票信心 93%，右側標出命中關鍵字。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6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6BC"/>
                </a:solidFill>
                <a:latin typeface="微軟正黑體"/>
                <a:ea typeface="微軟正黑體"/>
              </a:rPr>
              <a:t>卡關時怎麼辦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分錯類：用「批次改分類」，或在提示詞補上該類關鍵字。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24712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STEP 4　欄位擷取與核對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5440680" cy="3794760"/>
          </a:xfrm>
          <a:prstGeom prst="roundRect">
            <a:avLst>
              <a:gd name="adj" fmla="val 8000"/>
            </a:avLst>
          </a:prstGeom>
          <a:solidFill>
            <a:srgbClr val="FFFBE0"/>
          </a:solidFill>
          <a:ln w="15875">
            <a:solidFill>
              <a:srgbClr val="FFD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5120640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微軟正黑體"/>
                <a:ea typeface="微軟正黑體"/>
              </a:rPr>
              <a:t>▼ 示範提示詞（請複製）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19072"/>
            <a:ext cx="5120640" cy="3154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依類別擷取欄位：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發票抓發票號碼、日期、賣方統編、賣方名稱、金額。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缺漏的欄位標黃，表格底下顯示合計。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可以只看缺欄位的單據。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097280"/>
            <a:ext cx="5669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A6270"/>
                </a:solidFill>
                <a:latin typeface="微軟正黑體"/>
                <a:ea typeface="微軟正黑體"/>
              </a:rPr>
              <a:t>操作畫面（練習用假資料實際執行）</a:t>
            </a:r>
          </a:p>
        </p:txBody>
      </p:sp>
      <p:pic>
        <p:nvPicPr>
          <p:cNvPr id="8" name="Picture 7" descr="c_s4_fiel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44752"/>
            <a:ext cx="5669280" cy="1943753"/>
          </a:xfrm>
          <a:prstGeom prst="rect">
            <a:avLst/>
          </a:prstGeom>
          <a:ln w="12700">
            <a:solidFill>
              <a:srgbClr val="B8C2D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57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3 張發票全部抓到欄位，合計 24,950 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6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6BC"/>
                </a:solidFill>
                <a:latin typeface="微軟正黑體"/>
                <a:ea typeface="微軟正黑體"/>
              </a:rPr>
              <a:t>卡關時怎麼辦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欄位沒抓到：對照原圖手動補；常發生的話，貼原圖請 AI 調整擷取規則。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24712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STEP 5　匯出 GBA 受款人 XML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5440680" cy="3794760"/>
          </a:xfrm>
          <a:prstGeom prst="roundRect">
            <a:avLst>
              <a:gd name="adj" fmla="val 8000"/>
            </a:avLst>
          </a:prstGeom>
          <a:solidFill>
            <a:srgbClr val="FFFBE0"/>
          </a:solidFill>
          <a:ln w="15875">
            <a:solidFill>
              <a:srgbClr val="FFD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5120640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微軟正黑體"/>
                <a:ea typeface="微軟正黑體"/>
              </a:rPr>
              <a:t>▼ 示範提示詞（請複製）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19072"/>
            <a:ext cx="5120640" cy="3154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依附件規格產生 GBA 受款人 XML：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同一賣方統編合併成一位受款人，一張發票一筆 &lt;發票明細&gt;。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日期民國 7 碼，帳號 16 碼前補零。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加上「查拒往」按鈕（工程會，帶統編）。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097280"/>
            <a:ext cx="5669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A6270"/>
                </a:solidFill>
                <a:latin typeface="微軟正黑體"/>
                <a:ea typeface="微軟正黑體"/>
              </a:rPr>
              <a:t>操作畫面（練習用假資料實際執行）</a:t>
            </a:r>
          </a:p>
        </p:txBody>
      </p:sp>
      <p:pic>
        <p:nvPicPr>
          <p:cNvPr id="8" name="Picture 7" descr="c_s5_x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44752"/>
            <a:ext cx="5669280" cy="3482557"/>
          </a:xfrm>
          <a:prstGeom prst="rect">
            <a:avLst/>
          </a:prstGeom>
          <a:ln w="12700">
            <a:solidFill>
              <a:srgbClr val="B8C2D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57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2 位受款人：好好文具 2 張發票 6,950 元，天天印刷 1 張 18,000 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6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6BC"/>
                </a:solidFill>
                <a:latin typeface="微軟正黑體"/>
                <a:ea typeface="微軟正黑體"/>
              </a:rPr>
              <a:t>卡關時怎麼辦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格式不確定：對照 4_成果檔的 OCR示範_0310001.XML。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24712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STEP 6　資安：產生 SBOM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5440680" cy="3794760"/>
          </a:xfrm>
          <a:prstGeom prst="roundRect">
            <a:avLst>
              <a:gd name="adj" fmla="val 8000"/>
            </a:avLst>
          </a:prstGeom>
          <a:solidFill>
            <a:srgbClr val="FFFBE0"/>
          </a:solidFill>
          <a:ln w="15875">
            <a:solidFill>
              <a:srgbClr val="FFD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5120640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B2B2B"/>
                </a:solidFill>
                <a:latin typeface="微軟正黑體"/>
                <a:ea typeface="微軟正黑體"/>
              </a:rPr>
              <a:t>▼ 示範提示詞（請複製）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19072"/>
            <a:ext cx="5120640" cy="3154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提供 SBOM 表，確認不使用大陸的元件。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列出所有元件（含字型、CDN、模型）的版本、授權、開發者、來源國。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產出 CycloneDX 與 Excel，有疑慮的提出替代方案。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097280"/>
            <a:ext cx="5669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A6270"/>
                </a:solidFill>
                <a:latin typeface="微軟正黑體"/>
                <a:ea typeface="微軟正黑體"/>
              </a:rPr>
              <a:t>操作畫面（練習用假資料實際執行）</a:t>
            </a:r>
          </a:p>
        </p:txBody>
      </p:sp>
      <p:pic>
        <p:nvPicPr>
          <p:cNvPr id="8" name="Picture 7" descr="c_s6_s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44752"/>
            <a:ext cx="5669280" cy="2122345"/>
          </a:xfrm>
          <a:prstGeom prst="rect">
            <a:avLst/>
          </a:prstGeom>
          <a:ln w="12700">
            <a:solidFill>
              <a:srgbClr val="B8C2D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57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SBOM 共 35 列；程式庫全數通過，只有 2 種字型標「需注意」。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5120640"/>
            <a:ext cx="5577840" cy="1143000"/>
          </a:xfrm>
          <a:prstGeom prst="roundRect">
            <a:avLst>
              <a:gd name="adj" fmla="val 8000"/>
            </a:avLst>
          </a:prstGeom>
          <a:solidFill>
            <a:srgbClr val="E6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148072"/>
            <a:ext cx="5349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6BC"/>
                </a:solidFill>
                <a:latin typeface="微軟正黑體"/>
                <a:ea typeface="微軟正黑體"/>
              </a:rPr>
              <a:t>卡關時怎麼辦　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B2B2B"/>
                </a:solidFill>
                <a:latin typeface="微軟正黑體"/>
                <a:ea typeface="微軟正黑體"/>
              </a:rPr>
              <a:t>看不懂 SBOM：請 AI「用表格列出需注意的元件與替代方案」。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274320"/>
            <a:ext cx="1060704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提示語解剖：五格規格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338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463040" cy="713232"/>
          </a:xfrm>
          <a:prstGeom prst="roundRect">
            <a:avLst>
              <a:gd name="adj" fmla="val 8000"/>
            </a:avLst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46304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目的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234440"/>
            <a:ext cx="2377440" cy="71323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234440"/>
            <a:ext cx="21945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A6270"/>
                </a:solidFill>
                <a:latin typeface="微軟正黑體"/>
                <a:ea typeface="微軟正黑體"/>
              </a:rPr>
              <a:t>做什麼工具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234440"/>
            <a:ext cx="7040880" cy="71323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234440"/>
            <a:ext cx="681228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單檔 HTML，本機 OCR 會計單據並分類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1463040" cy="713232"/>
          </a:xfrm>
          <a:prstGeom prst="roundRect">
            <a:avLst>
              <a:gd name="adj" fmla="val 8000"/>
            </a:avLst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75688"/>
            <a:ext cx="146304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輸入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2075688"/>
            <a:ext cx="2377440" cy="71323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075688"/>
            <a:ext cx="21945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A6270"/>
                </a:solidFill>
                <a:latin typeface="微軟正黑體"/>
                <a:ea typeface="微軟正黑體"/>
              </a:rPr>
              <a:t>給它什麼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075688"/>
            <a:ext cx="7040880" cy="71323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075688"/>
            <a:ext cx="681228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圖片、PDF，可多檔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16936"/>
            <a:ext cx="1463040" cy="713232"/>
          </a:xfrm>
          <a:prstGeom prst="roundRect">
            <a:avLst>
              <a:gd name="adj" fmla="val 8000"/>
            </a:avLst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16936"/>
            <a:ext cx="146304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微軟正黑體"/>
                <a:ea typeface="微軟正黑體"/>
              </a:rPr>
              <a:t>輸出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2916936"/>
            <a:ext cx="2377440" cy="71323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2916936"/>
            <a:ext cx="21945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A6270"/>
                </a:solidFill>
                <a:latin typeface="微軟正黑體"/>
                <a:ea typeface="微軟正黑體"/>
              </a:rPr>
              <a:t>要什麼結果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916936"/>
            <a:ext cx="7040880" cy="71323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916936"/>
            <a:ext cx="681228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Excel、GBA 受款人 XML（貼表頭或規格）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58184"/>
            <a:ext cx="1463040" cy="713232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58184"/>
            <a:ext cx="146304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限制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3758184"/>
            <a:ext cx="2377440" cy="71323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3758184"/>
            <a:ext cx="21945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A6270"/>
                </a:solidFill>
                <a:latin typeface="微軟正黑體"/>
                <a:ea typeface="微軟正黑體"/>
              </a:rPr>
              <a:t>不能做什麼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758184"/>
            <a:ext cx="7040880" cy="71323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3758184"/>
            <a:ext cx="681228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不上傳；不用大陸元件；可離線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99432"/>
            <a:ext cx="1463040" cy="713232"/>
          </a:xfrm>
          <a:prstGeom prst="roundRect">
            <a:avLst>
              <a:gd name="adj" fmla="val 8000"/>
            </a:avLst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599432"/>
            <a:ext cx="146304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驗收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03120" y="4599432"/>
            <a:ext cx="2377440" cy="71323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4599432"/>
            <a:ext cx="219456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A6270"/>
                </a:solidFill>
                <a:latin typeface="微軟正黑體"/>
                <a:ea typeface="微軟正黑體"/>
              </a:rPr>
              <a:t>怎樣算完成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599432"/>
            <a:ext cx="7040880" cy="71323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599432"/>
            <a:ext cx="6812280" cy="7132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假資料實測，列辨識結果與元件來源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687568"/>
            <a:ext cx="106070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一句提示詞寫齊</a:t>
            </a:r>
            <a:r>
              <a:rPr sz="1700" b="1">
                <a:solidFill>
                  <a:srgbClr val="FFDE24"/>
                </a:solidFill>
                <a:latin typeface="微軟正黑體"/>
                <a:ea typeface="微軟正黑體"/>
              </a:rPr>
              <a:t>目的・輸入・輸出・限制・驗收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274320"/>
            <a:ext cx="1060704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六個寫法技巧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338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474720" cy="187451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軟正黑體"/>
                <a:ea typeface="微軟正黑體"/>
              </a:rPr>
              <a:t>規格四要素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154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做什麼、輸入、輸出、限制一句講完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154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270"/>
                </a:solidFill>
                <a:latin typeface="微軟正黑體"/>
                <a:ea typeface="微軟正黑體"/>
              </a:rPr>
              <a:t>對應：STEP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234440"/>
            <a:ext cx="3474720" cy="187451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59" y="1417320"/>
            <a:ext cx="502920" cy="50292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41732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軟正黑體"/>
                <a:ea typeface="微軟正黑體"/>
              </a:rPr>
              <a:t>給範本不描述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057400"/>
            <a:ext cx="3154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貼表頭、XML 範例、截圖、規格文件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651760"/>
            <a:ext cx="3154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270"/>
                </a:solidFill>
                <a:latin typeface="微軟正黑體"/>
                <a:ea typeface="微軟正黑體"/>
              </a:rPr>
              <a:t>對應：STEP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234440"/>
            <a:ext cx="3474720" cy="187451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599" y="1417320"/>
            <a:ext cx="502920" cy="502920"/>
          </a:xfrm>
          <a:prstGeom prst="ellipse">
            <a:avLst/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B2B2B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41732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軟正黑體"/>
                <a:ea typeface="微軟正黑體"/>
              </a:rPr>
              <a:t>先確認再做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057400"/>
            <a:ext cx="3154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先看 UI 原型，一項一確認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651760"/>
            <a:ext cx="3154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270"/>
                </a:solidFill>
                <a:latin typeface="微軟正黑體"/>
                <a:ea typeface="微軟正黑體"/>
              </a:rPr>
              <a:t>對應：STEP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37560"/>
            <a:ext cx="3474720" cy="187451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2044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軟正黑體"/>
                <a:ea typeface="微軟正黑體"/>
              </a:rPr>
              <a:t>指名元件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3154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用 [ ] 框住按鈕名或畫面文字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3154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270"/>
                </a:solidFill>
                <a:latin typeface="微軟正黑體"/>
                <a:ea typeface="微軟正黑體"/>
              </a:rPr>
              <a:t>對應：修改時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337560"/>
            <a:ext cx="3474720" cy="187451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80559" y="3520440"/>
            <a:ext cx="502920" cy="50292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52044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軟正黑體"/>
                <a:ea typeface="微軟正黑體"/>
              </a:rPr>
              <a:t>先評估再動手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4160520"/>
            <a:ext cx="3154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「評估是否可以……」再決定做法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754880"/>
            <a:ext cx="3154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270"/>
                </a:solidFill>
                <a:latin typeface="微軟正黑體"/>
                <a:ea typeface="微軟正黑體"/>
              </a:rPr>
              <a:t>對應：外部網站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337560"/>
            <a:ext cx="3474720" cy="1874519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599" y="3520440"/>
            <a:ext cx="502920" cy="50292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520440"/>
            <a:ext cx="25603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B2B2B"/>
                </a:solidFill>
                <a:latin typeface="微軟正黑體"/>
                <a:ea typeface="微軟正黑體"/>
              </a:rPr>
              <a:t>政策限制由人提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9" y="4160520"/>
            <a:ext cx="3154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元件來源、去識別化、SBOM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4754880"/>
            <a:ext cx="3154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270"/>
                </a:solidFill>
                <a:latin typeface="微軟正黑體"/>
                <a:ea typeface="微軟正黑體"/>
              </a:rPr>
              <a:t>對應：STEP 0、6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687568"/>
            <a:ext cx="106070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短提示詞能用，是因為</a:t>
            </a:r>
            <a:r>
              <a:rPr sz="1700" b="1">
                <a:solidFill>
                  <a:srgbClr val="FFDE24"/>
                </a:solidFill>
                <a:latin typeface="微軟正黑體"/>
                <a:ea typeface="微軟正黑體"/>
              </a:rPr>
              <a:t>前面已給過規格與範本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274320"/>
            <a:ext cx="1060704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注意事項：資安、個資、人工複核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338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不上傳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39"/>
            <a:ext cx="3145536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軟正黑體"/>
                <a:ea typeface="微軟正黑體"/>
              </a:rPr>
              <a:t>資料只在瀏覽器處理；離線版完全不連網。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28016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79" y="128016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25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元件來源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1" y="1920239"/>
            <a:ext cx="3145536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軟正黑體"/>
                <a:ea typeface="微軟正黑體"/>
              </a:rPr>
              <a:t>SBOM 列出版本、授權、來源國；不用大陸元件；字型用微軟正黑體。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28016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128016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325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去識別化與複核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1920239"/>
            <a:ext cx="3145536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軟正黑體"/>
                <a:ea typeface="微軟正黑體"/>
              </a:rPr>
              <a:t>教材一律假資料，機關名稱寫 OOO單位；AI 結果須對照原圖人工複核。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270"/>
                </a:solidFill>
                <a:latin typeface="微軟正黑體"/>
                <a:ea typeface="微軟正黑體"/>
              </a:rPr>
              <a:t>上課前待辦：離線版啟動檔 start-windows.bat 尚未在 Windows 實機測過，請講師先試一次。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687568"/>
            <a:ext cx="106070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政策限制要</a:t>
            </a:r>
            <a:r>
              <a:rPr sz="1700" b="1">
                <a:solidFill>
                  <a:srgbClr val="FFDE24"/>
                </a:solidFill>
                <a:latin typeface="微軟正黑體"/>
                <a:ea typeface="微軟正黑體"/>
              </a:rPr>
              <a:t>由人寫進提示詞</a:t>
            </a: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，並要 AI 拿出證據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274320"/>
            <a:ext cx="1060704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效益試算：代入自己的數字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338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B2B2B"/>
                </a:solidFill>
                <a:latin typeface="微軟正黑體"/>
                <a:ea typeface="微軟正黑體"/>
              </a:rPr>
              <a:t>每月節省時數 ＝ 每月單據張數 × （人工登打分鐘 − 校對分鐘） ÷ 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34747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C00000"/>
                </a:solidFill>
                <a:latin typeface="微軟正黑體"/>
                <a:ea typeface="微軟正黑體"/>
              </a:rPr>
              <a:t>5 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34747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假單據一次辨識並分類（STEP 2–3）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2743200"/>
            <a:ext cx="34747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C00000"/>
                </a:solidFill>
                <a:latin typeface="微軟正黑體"/>
                <a:ea typeface="微軟正黑體"/>
              </a:rPr>
              <a:t>2 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3703320"/>
            <a:ext cx="34747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受款人自動合併，3 筆發票明細（STEP 5）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2743200"/>
            <a:ext cx="34747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C00000"/>
                </a:solidFill>
                <a:latin typeface="微軟正黑體"/>
                <a:ea typeface="微軟正黑體"/>
              </a:rPr>
              <a:t>0 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3703320"/>
            <a:ext cx="34747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資料上傳到外部伺服器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270"/>
                </a:solidFill>
                <a:latin typeface="微軟正黑體"/>
                <a:ea typeface="微軟正黑體"/>
              </a:rPr>
              <a:t>手寫欄位仍需人工校對；效益主要來自印刷字單據與自動整理成 XML。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效益＝</a:t>
            </a:r>
            <a:r>
              <a:rPr sz="1700" b="1">
                <a:solidFill>
                  <a:srgbClr val="FFDE24"/>
                </a:solidFill>
                <a:latin typeface="微軟正黑體"/>
                <a:ea typeface="微軟正黑體"/>
              </a:rPr>
              <a:t>省下的登打＋少掉的轉檔</a:t>
            </a: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，校對時間不能省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274320"/>
            <a:ext cx="1060704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學員練習：三組分層任務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338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A 組｜未開發經驗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39"/>
            <a:ext cx="3145536" cy="2377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用 STEP 0 設定規範，摘錄假領據並確認後匯出。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886200"/>
            <a:ext cx="31089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  <a:latin typeface="微軟正黑體"/>
                <a:ea typeface="微軟正黑體"/>
              </a:rPr>
              <a:t>素材：假領據 1、2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28016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79" y="128016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25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B 組｜用過對話式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1" y="1920239"/>
            <a:ext cx="3145536" cy="2377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補完半成品五格規格，改成自己單位的欄位。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1" y="3886200"/>
            <a:ext cx="31089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  <a:latin typeface="微軟正黑體"/>
                <a:ea typeface="微軟正黑體"/>
              </a:rPr>
              <a:t>素材：假發票 3 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280160"/>
            <a:ext cx="3474720" cy="31089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9" y="128016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325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B2B2B"/>
                </a:solidFill>
                <a:latin typeface="微軟正黑體"/>
                <a:ea typeface="微軟正黑體"/>
              </a:rPr>
              <a:t>C 組｜有開發經驗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1920239"/>
            <a:ext cx="3145536" cy="2377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用 STEP 5 提示詞產生受款人 XML，對照成果檔。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1" y="3886200"/>
            <a:ext cx="31089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  <a:latin typeface="微軟正黑體"/>
                <a:ea typeface="微軟正黑體"/>
              </a:rPr>
              <a:t>素材＋成果檔 XML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634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1069848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0000"/>
                </a:solidFill>
                <a:latin typeface="微軟正黑體"/>
                <a:ea typeface="微軟正黑體"/>
              </a:rPr>
              <a:t>★ 實作規範：</a:t>
            </a:r>
            <a:r>
              <a:rPr sz="1600" b="0">
                <a:solidFill>
                  <a:srgbClr val="2B2B2B"/>
                </a:solidFill>
                <a:latin typeface="微軟正黑體"/>
                <a:ea typeface="微軟正黑體"/>
              </a:rPr>
              <a:t>只用素材包的假資料；不得上傳真實單據或個資；產出先自行核對再分享。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274320"/>
            <a:ext cx="1060704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維護與精進：工具交出去之後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338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回報錯誤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39"/>
            <a:ext cx="3145536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第 N 步 [按鈕] 出現 [錯誤訊息]，附截圖；預期應為……；修好後用假資料重測。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28016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79" y="128016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25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新增範本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1" y="1920239"/>
            <a:ext cx="3145536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新增〔單據名稱〕範本，附假資料樣本，匯出欄位：……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28016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1280160"/>
            <a:ext cx="3474720" cy="502920"/>
          </a:xfrm>
          <a:prstGeom prst="roundRect">
            <a:avLst>
              <a:gd name="adj" fmla="val 15000"/>
            </a:avLst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325880"/>
            <a:ext cx="32004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</a:rPr>
              <a:t>定期盤點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1920239"/>
            <a:ext cx="3145536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重新產生 SBOM，列出新增或改版元件及來源國。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00000"/>
                </a:solidFill>
                <a:latin typeface="微軟正黑體"/>
                <a:ea typeface="微軟正黑體"/>
              </a:rPr>
              <a:t>後續精進方向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6908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手寫中文欄位：評估 Windows 內建 OCR 等非大陸來源方案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每次修改都同步更新線上版、離線版與 SBOM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687568"/>
            <a:ext cx="106070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工具交出去後，</a:t>
            </a:r>
            <a:r>
              <a:rPr sz="1700" b="1">
                <a:solidFill>
                  <a:srgbClr val="FFDE24"/>
                </a:solidFill>
                <a:latin typeface="微軟正黑體"/>
                <a:ea typeface="微軟正黑體"/>
              </a:rPr>
              <a:t>維護也用提示詞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274320"/>
            <a:ext cx="10607040" cy="685800"/>
          </a:xfrm>
        </p:spPr>
        <p:txBody>
          <a:bodyPr anchor="ctr"/>
          <a:lstStyle/>
          <a:p>
            <a:r>
              <a:rPr sz="3000" b="1">
                <a:solidFill>
                  <a:srgbClr val="C00000"/>
                </a:solidFill>
                <a:latin typeface="微軟正黑體"/>
                <a:ea typeface="微軟正黑體"/>
              </a:rPr>
              <a:t>結語：動手前先問四句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33832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91639"/>
            <a:ext cx="868680" cy="86868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先問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00200"/>
            <a:ext cx="4023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微軟正黑體"/>
                <a:ea typeface="微軟正黑體"/>
              </a:rPr>
              <a:t>要解決哪個痛點？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4023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說得出省下哪一段工作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1691639"/>
            <a:ext cx="868680" cy="8686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先問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4023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微軟正黑體"/>
                <a:ea typeface="微軟正黑體"/>
              </a:rPr>
              <a:t>資料會不會離開電腦？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194560"/>
            <a:ext cx="4023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不上傳、可離線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4612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657600"/>
            <a:ext cx="868680" cy="86868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先問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66160"/>
            <a:ext cx="4023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微軟正黑體"/>
                <a:ea typeface="微軟正黑體"/>
              </a:rPr>
              <a:t>元件從哪裡來？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60520"/>
            <a:ext cx="4023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要 SBOM 當證據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46120"/>
            <a:ext cx="5440680" cy="1737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3657600"/>
            <a:ext cx="868680" cy="868680"/>
          </a:xfrm>
          <a:prstGeom prst="ellipse">
            <a:avLst/>
          </a:prstGeom>
          <a:solidFill>
            <a:srgbClr val="FFD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B2B2B"/>
                </a:solidFill>
                <a:latin typeface="微軟正黑體"/>
                <a:ea typeface="微軟正黑體"/>
              </a:rPr>
              <a:t>先問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566160"/>
            <a:ext cx="4023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B2B"/>
                </a:solidFill>
                <a:latin typeface="微軟正黑體"/>
                <a:ea typeface="微軟正黑體"/>
              </a:rPr>
              <a:t>怎樣算完成？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160520"/>
            <a:ext cx="4023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軟正黑體"/>
                <a:ea typeface="微軟正黑體"/>
              </a:rPr>
              <a:t>假資料實測＋人工確認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87568"/>
            <a:ext cx="10607040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Q &amp; A　｜　教材：</a:t>
            </a:r>
            <a:r>
              <a:rPr sz="1700" b="1">
                <a:solidFill>
                  <a:srgbClr val="FFDE24"/>
                </a:solidFill>
                <a:latin typeface="微軟正黑體"/>
                <a:ea typeface="微軟正黑體"/>
              </a:rPr>
              <a:t>簡報・Prompt・素材・成果檔・★題目檔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5">
      <a:majorFont>
        <a:latin typeface="Calibri Light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9</Words>
  <Application>Microsoft Office PowerPoint</Application>
  <PresentationFormat>寬螢幕</PresentationFormat>
  <Paragraphs>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我是標題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許傳龍</dc:creator>
  <cp:lastModifiedBy>許傳龍</cp:lastModifiedBy>
  <cp:revision>16</cp:revision>
  <dcterms:created xsi:type="dcterms:W3CDTF">2023-09-13T10:19:26Z</dcterms:created>
  <dcterms:modified xsi:type="dcterms:W3CDTF">2026-10-15T01:19:20Z</dcterms:modified>
</cp:coreProperties>
</file>