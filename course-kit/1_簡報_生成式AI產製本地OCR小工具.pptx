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4"/>
    <p:sldId id="257" r:id="rId2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B455"/>
    <a:srgbClr val="FFDE24"/>
    <a:srgbClr val="0076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02" d="100"/>
          <a:sy n="102" d="100"/>
        </p:scale>
        <p:origin x="87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開場：今天不是教 OCR 技術，而是示範一位主計同仁如何用對話式 AI，在兩週內把「一張張登打單據」變成一個能匯出 GBA 受款人 XML 的本地小工具。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說明三段時間配置與五項教材的用途。提醒學員第 5 項題目檔的規範要先讀。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從實際業務痛點出發。每個痛點都對應到工具的一個限制條件，這些條件後來都寫進了 prompt。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用時間軸說明工具是長出來的，不是一次寫好。每一階段都只用幾句短 prompt 推進。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依實測數字說明每回合的收穫與代價。第 4 回合換掉大陸元件後準確度下降，是刻意的取捨。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把當時 4 段 prompt 合成一段五格規格，學員實作就用這個格式。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每個技巧都配一段當時的原文，請學員對照 Prompt 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示範 OCR 示範資料：3 張假發票 → 2 位受款人、3 筆發票明細。規格文件就是最好的 prompt。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示範 GitHub Pages 公開版。強調「先給我 UI 確認」與「完成每個一一確認」兩句的作用。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三關都是使用者主動提出，AI 不會自己想到。SBOM 數字取自本案實際產出。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人工登打時間本案未實測，請學員代入自己單位的數字計算。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依學員經驗分組。題目、半成品與規範都在第 5 項題目檔。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三段維護 prompt 為依本案經驗整理的範本，非當時原文。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以四個問題收尾，接 QA。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0C19B2F-056B-A978-451B-2382F35939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62245AD-4AA1-3B59-D2C5-7143ABB978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972A740-7192-1ACB-3050-40C668A02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F7372-EC8E-4AF6-9C61-41EF6E44CCDD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BFF514-4FFF-C5A1-FA16-15F0062DC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47075E7-6CE8-4FCC-F0B9-7F4E15E61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704E3-6112-4A13-9F25-2259944BE34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05721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C20F48-52B9-D832-7530-272B4CAAA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7297718-F810-0500-A264-2AB058CF4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71D2FEC-37ED-B337-3AA0-646DD70C4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F7372-EC8E-4AF6-9C61-41EF6E44CCDD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C85C315-8105-CCFF-2643-C2CE084BC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8EDF60A-DB0B-7B86-2C4D-B04FDA039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704E3-6112-4A13-9F25-2259944BE34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159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DEA219-2FE3-49A4-44F1-267F92501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1B9947-9923-93DD-B04E-C664E892D8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C5B0863-83BC-5592-94B6-696CC3256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F7372-EC8E-4AF6-9C61-41EF6E44CCDD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5A29353-EB8B-AA0D-3ACD-DE2B658D2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950F338-6A96-CBEA-42CE-F4BBEE5A5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704E3-6112-4A13-9F25-2259944BE34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9748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864733-6CDA-104D-1B1A-E47F32D57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3ACBC80-A4C0-108B-EB2B-BF9F3FCA60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30A1CB5-F607-1306-6874-025B5A5CBE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5C2912B-701D-B255-B6BA-E12E966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F7372-EC8E-4AF6-9C61-41EF6E44CCDD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833CEA5-E7E6-E0BD-72C5-B78753BCC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DCB1BBB-5906-D5DC-33F1-17445AFB3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704E3-6112-4A13-9F25-2259944BE34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97096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88C0E4-41C9-0E38-9412-7CAAA0B2B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A1C35C1-5DEB-C6E5-895D-5F914D9B37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B9F0BC1-A13A-A442-C635-5F253A44FE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44975E9-F8A3-E200-323E-5DE09CCBCD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09B5F4C-552F-6E02-C392-3867AC2778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86307C07-6414-B44F-D0B0-0913E65E9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F7372-EC8E-4AF6-9C61-41EF6E44CCDD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392FA9CA-9D2E-12AC-C981-C6D4A4464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1338CED-DDE3-6D54-998A-3607201BC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704E3-6112-4A13-9F25-2259944BE34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487522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FE9A2F3D-7C28-CF21-5259-042BEAB72342}"/>
              </a:ext>
            </a:extLst>
          </p:cNvPr>
          <p:cNvGrpSpPr/>
          <p:nvPr userDrawn="1"/>
        </p:nvGrpSpPr>
        <p:grpSpPr>
          <a:xfrm>
            <a:off x="0" y="6638544"/>
            <a:ext cx="12192000" cy="220097"/>
            <a:chOff x="0" y="6638544"/>
            <a:chExt cx="12192000" cy="220097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7C71FF97-5CD8-999F-B7D2-AC1A612F52A9}"/>
                </a:ext>
              </a:extLst>
            </p:cNvPr>
            <p:cNvSpPr/>
            <p:nvPr/>
          </p:nvSpPr>
          <p:spPr>
            <a:xfrm>
              <a:off x="0" y="6638544"/>
              <a:ext cx="12192000" cy="2194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" name="平行四邊形 3">
              <a:extLst>
                <a:ext uri="{FF2B5EF4-FFF2-40B4-BE49-F238E27FC236}">
                  <a16:creationId xmlns:a16="http://schemas.microsoft.com/office/drawing/2014/main" id="{A20B05D3-4256-EE9D-581E-1B8A241C986A}"/>
                </a:ext>
              </a:extLst>
            </p:cNvPr>
            <p:cNvSpPr/>
            <p:nvPr/>
          </p:nvSpPr>
          <p:spPr>
            <a:xfrm>
              <a:off x="910661" y="6638544"/>
              <a:ext cx="641684" cy="219456"/>
            </a:xfrm>
            <a:prstGeom prst="parallelogram">
              <a:avLst>
                <a:gd name="adj" fmla="val 81433"/>
              </a:avLst>
            </a:prstGeom>
            <a:solidFill>
              <a:srgbClr val="0076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5" name="平行四邊形 4">
              <a:extLst>
                <a:ext uri="{FF2B5EF4-FFF2-40B4-BE49-F238E27FC236}">
                  <a16:creationId xmlns:a16="http://schemas.microsoft.com/office/drawing/2014/main" id="{43128ACA-B4BA-F88F-7CAF-8DFC4130FC8B}"/>
                </a:ext>
              </a:extLst>
            </p:cNvPr>
            <p:cNvSpPr/>
            <p:nvPr/>
          </p:nvSpPr>
          <p:spPr>
            <a:xfrm>
              <a:off x="1546380" y="6638544"/>
              <a:ext cx="641684" cy="219456"/>
            </a:xfrm>
            <a:prstGeom prst="parallelogram">
              <a:avLst>
                <a:gd name="adj" fmla="val 81433"/>
              </a:avLst>
            </a:prstGeom>
            <a:solidFill>
              <a:srgbClr val="FFDE2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6" name="平行四邊形 5">
              <a:extLst>
                <a:ext uri="{FF2B5EF4-FFF2-40B4-BE49-F238E27FC236}">
                  <a16:creationId xmlns:a16="http://schemas.microsoft.com/office/drawing/2014/main" id="{4E0DE298-3385-1EB1-9488-F7E8302390E4}"/>
                </a:ext>
              </a:extLst>
            </p:cNvPr>
            <p:cNvSpPr/>
            <p:nvPr/>
          </p:nvSpPr>
          <p:spPr>
            <a:xfrm>
              <a:off x="2182099" y="6639185"/>
              <a:ext cx="641684" cy="219456"/>
            </a:xfrm>
            <a:prstGeom prst="parallelogram">
              <a:avLst>
                <a:gd name="adj" fmla="val 81433"/>
              </a:avLst>
            </a:prstGeom>
            <a:solidFill>
              <a:srgbClr val="2DB45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13018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群組 11">
            <a:extLst>
              <a:ext uri="{FF2B5EF4-FFF2-40B4-BE49-F238E27FC236}">
                <a16:creationId xmlns:a16="http://schemas.microsoft.com/office/drawing/2014/main" id="{23D1976B-EAA2-3F8B-FF49-B5A35E060FAE}"/>
              </a:ext>
            </a:extLst>
          </p:cNvPr>
          <p:cNvGrpSpPr/>
          <p:nvPr userDrawn="1"/>
        </p:nvGrpSpPr>
        <p:grpSpPr>
          <a:xfrm>
            <a:off x="0" y="6638544"/>
            <a:ext cx="12192000" cy="220097"/>
            <a:chOff x="0" y="6638544"/>
            <a:chExt cx="12192000" cy="220097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776BC673-A027-4C6F-96B7-EAB445F7CCB7}"/>
                </a:ext>
              </a:extLst>
            </p:cNvPr>
            <p:cNvSpPr/>
            <p:nvPr/>
          </p:nvSpPr>
          <p:spPr>
            <a:xfrm>
              <a:off x="0" y="6638544"/>
              <a:ext cx="12192000" cy="21945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平行四邊形 13">
              <a:extLst>
                <a:ext uri="{FF2B5EF4-FFF2-40B4-BE49-F238E27FC236}">
                  <a16:creationId xmlns:a16="http://schemas.microsoft.com/office/drawing/2014/main" id="{7ACC3578-3264-85EB-40D0-12929AD7B2C1}"/>
                </a:ext>
              </a:extLst>
            </p:cNvPr>
            <p:cNvSpPr/>
            <p:nvPr/>
          </p:nvSpPr>
          <p:spPr>
            <a:xfrm>
              <a:off x="910661" y="6638544"/>
              <a:ext cx="641684" cy="219456"/>
            </a:xfrm>
            <a:prstGeom prst="parallelogram">
              <a:avLst>
                <a:gd name="adj" fmla="val 81433"/>
              </a:avLst>
            </a:prstGeom>
            <a:solidFill>
              <a:srgbClr val="0076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5" name="平行四邊形 14">
              <a:extLst>
                <a:ext uri="{FF2B5EF4-FFF2-40B4-BE49-F238E27FC236}">
                  <a16:creationId xmlns:a16="http://schemas.microsoft.com/office/drawing/2014/main" id="{526A2CD7-C3B8-08E1-33F2-0B67CBDEE586}"/>
                </a:ext>
              </a:extLst>
            </p:cNvPr>
            <p:cNvSpPr/>
            <p:nvPr/>
          </p:nvSpPr>
          <p:spPr>
            <a:xfrm>
              <a:off x="1546380" y="6638544"/>
              <a:ext cx="641684" cy="219456"/>
            </a:xfrm>
            <a:prstGeom prst="parallelogram">
              <a:avLst>
                <a:gd name="adj" fmla="val 81433"/>
              </a:avLst>
            </a:prstGeom>
            <a:solidFill>
              <a:srgbClr val="FFDE2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6" name="平行四邊形 15">
              <a:extLst>
                <a:ext uri="{FF2B5EF4-FFF2-40B4-BE49-F238E27FC236}">
                  <a16:creationId xmlns:a16="http://schemas.microsoft.com/office/drawing/2014/main" id="{87DAD3EE-B77B-1CF9-4EF0-23F946E63E4B}"/>
                </a:ext>
              </a:extLst>
            </p:cNvPr>
            <p:cNvSpPr/>
            <p:nvPr/>
          </p:nvSpPr>
          <p:spPr>
            <a:xfrm>
              <a:off x="2182099" y="6639185"/>
              <a:ext cx="641684" cy="219456"/>
            </a:xfrm>
            <a:prstGeom prst="parallelogram">
              <a:avLst>
                <a:gd name="adj" fmla="val 81433"/>
              </a:avLst>
            </a:prstGeom>
            <a:solidFill>
              <a:srgbClr val="2DB45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</p:grpSp>
      <p:sp>
        <p:nvSpPr>
          <p:cNvPr id="4" name="標題 1">
            <a:extLst>
              <a:ext uri="{FF2B5EF4-FFF2-40B4-BE49-F238E27FC236}">
                <a16:creationId xmlns:a16="http://schemas.microsoft.com/office/drawing/2014/main" id="{1F6BD97B-624A-0E83-489F-0A0864E27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975" y="248679"/>
            <a:ext cx="10515600" cy="642581"/>
          </a:xfrm>
        </p:spPr>
        <p:txBody>
          <a:bodyPr/>
          <a:lstStyle>
            <a:lvl1pPr>
              <a:defRPr sz="3600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A037D7D9-9FC4-A869-D10D-0F22239CE1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4974" y="992187"/>
            <a:ext cx="11394233" cy="552058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466142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1">
            <a:extLst>
              <a:ext uri="{FF2B5EF4-FFF2-40B4-BE49-F238E27FC236}">
                <a16:creationId xmlns:a16="http://schemas.microsoft.com/office/drawing/2014/main" id="{9D0E0718-6EFA-390D-7A06-081239C07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975" y="248679"/>
            <a:ext cx="10515600" cy="642581"/>
          </a:xfrm>
        </p:spPr>
        <p:txBody>
          <a:bodyPr/>
          <a:lstStyle>
            <a:lvl1pPr>
              <a:defRPr sz="3600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83F5726F-D6C7-BD8E-4370-16443AB80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4974" y="992187"/>
            <a:ext cx="11394233" cy="552058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960750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5DB55E-77A2-67EA-06E1-E1DF78CF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49E9FB9-F790-2949-302C-4015FE308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DE4FE95-B7BE-8ECB-1FED-E60087677A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A47B9A2-BB52-B455-68D0-AD06C3231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F7372-EC8E-4AF6-9C61-41EF6E44CCDD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8BB24C4-290D-E521-3D47-1605F9165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1C32724-3A7B-AF39-9C5C-8FE013F55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704E3-6112-4A13-9F25-2259944BE34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0984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F85E44-C87E-6474-E8C6-5C1AF55D8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58106C3D-6CCF-DFA9-28A3-ED27829E87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B41A5FB-9195-F950-44D8-FBF5B7465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BC8816A-58E2-5230-2ED5-42F40D304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F7372-EC8E-4AF6-9C61-41EF6E44CCDD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1414FB3-9EFB-A799-0485-5A2C0EDD8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CAF79AE-6F04-0E1F-5A2D-B098BBECF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704E3-6112-4A13-9F25-2259944BE34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514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EDA21F-8902-0B5C-EA20-3DEBAFEAC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AB4826A-EEB5-9CF0-5FA6-99E2180BE9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5C426F6-5698-C8DF-D453-DBE70B42A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F7372-EC8E-4AF6-9C61-41EF6E44CCDD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9130F01-C1A7-3DBF-ED56-67BE4F639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95088E-E435-1C94-0312-7B669A946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704E3-6112-4A13-9F25-2259944BE34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65868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7F8F58C-39C1-D904-2C65-8B35A6BDC0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E860657-92DD-5F24-34FB-4EE8FC68AD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A6A0336-6862-35C0-685D-A6198648E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F7372-EC8E-4AF6-9C61-41EF6E44CCDD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95668EA-76F2-8C13-E996-B4B5496EC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EFD9319-80A2-D4D8-FB68-D389D20B0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704E3-6112-4A13-9F25-2259944BE34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18111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5FEF3667-4903-8956-DA86-E4FEA6B3E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CF47A42-8EC1-7AA8-5748-0052209E98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07FD6F-2296-1BBD-C9F3-D85A0E383B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6F7372-EC8E-4AF6-9C61-41EF6E44CCDD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AEC959E-8D91-E6E6-38E2-E9344C6082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B3754AD-EC86-DF9A-0CF3-2630A334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B704E3-6112-4A13-9F25-2259944BE34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357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977639"/>
          </a:xfrm>
          <a:prstGeom prst="rect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封面標題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微軟正黑體"/>
                <a:ea typeface="微軟正黑體"/>
              </a:rPr>
              <a:t>用生成式 AI 產製本地 OCR 小工具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9A23B"/>
                </a:solidFill>
                <a:latin typeface="微軟正黑體"/>
                <a:ea typeface="微軟正黑體"/>
              </a:rPr>
              <a:t>從單據辨識到 GBA 受款人 XML 的實作案例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2A5C"/>
                </a:solidFill>
                <a:latin typeface="微軟正黑體"/>
                <a:ea typeface="微軟正黑體"/>
              </a:rPr>
              <a:t>主計人員生成式 AI 實作課程｜講授 30 分・實作 30 分・QA 15 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270"/>
                </a:solidFill>
                <a:latin typeface="微軟正黑體"/>
                <a:ea typeface="微軟正黑體"/>
              </a:rPr>
              <a:t>OOO單位　2026 年 10 月　（教材內容均為練習用假資料）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292608"/>
            <a:ext cx="10424160" cy="685800"/>
          </a:xfrm>
        </p:spPr>
        <p:txBody>
          <a:bodyPr anchor="ctr"/>
          <a:lstStyle/>
          <a:p>
            <a:r>
              <a:rPr sz="3000" b="1">
                <a:solidFill>
                  <a:srgbClr val="1F2A5C"/>
                </a:solidFill>
                <a:latin typeface="微軟正黑體"/>
                <a:ea typeface="微軟正黑體"/>
              </a:rPr>
              <a:t>課程地圖：75 分鐘做完一輪</a:t>
            </a:r>
          </a:p>
        </p:txBody>
      </p:sp>
      <p:sp>
        <p:nvSpPr>
          <p:cNvPr id="3" name="Oval 2"/>
          <p:cNvSpPr/>
          <p:nvPr/>
        </p:nvSpPr>
        <p:spPr>
          <a:xfrm>
            <a:off x="502920" y="356616"/>
            <a:ext cx="566928" cy="566928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3474720" cy="16916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474720" cy="502920"/>
          </a:xfrm>
          <a:prstGeom prst="roundRect">
            <a:avLst>
              <a:gd name="adj" fmla="val 15000"/>
            </a:avLst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講授 30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65960"/>
            <a:ext cx="3145536" cy="960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發想 → 工作流程 → 提示語 → 資安與維護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325880"/>
            <a:ext cx="3474720" cy="16916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4297679" y="1325880"/>
            <a:ext cx="3474720" cy="502920"/>
          </a:xfrm>
          <a:prstGeom prst="roundRect">
            <a:avLst>
              <a:gd name="adj" fmla="val 15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13716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實作 30 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1" y="1965960"/>
            <a:ext cx="3145536" cy="960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A／B／C 三組分層任務，用題目檔與素材包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325880"/>
            <a:ext cx="3474720" cy="16916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046719" y="1325880"/>
            <a:ext cx="3474720" cy="502920"/>
          </a:xfrm>
          <a:prstGeom prst="roundRect">
            <a:avLst>
              <a:gd name="adj" fmla="val 15000"/>
            </a:avLst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183879" y="13716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QA 15 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1" y="1965960"/>
            <a:ext cx="3145536" cy="960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效益試算、精進方向、單位導入問題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46120"/>
            <a:ext cx="109728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2A5C"/>
                </a:solidFill>
                <a:latin typeface="微軟正黑體"/>
                <a:ea typeface="微軟正黑體"/>
              </a:rPr>
              <a:t>本課 5 項教材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03320"/>
            <a:ext cx="2103120" cy="16459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85800" y="3840480"/>
            <a:ext cx="457200" cy="457200"/>
          </a:xfrm>
          <a:prstGeom prst="ellipse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858768"/>
            <a:ext cx="1371600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2A5C"/>
                </a:solidFill>
                <a:latin typeface="微軟正黑體"/>
                <a:ea typeface="微軟正黑體"/>
              </a:rPr>
              <a:t>簡報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434840"/>
            <a:ext cx="1874519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本檔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98064" y="3703320"/>
            <a:ext cx="2103120" cy="16459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2935224" y="3840480"/>
            <a:ext cx="457200" cy="457200"/>
          </a:xfrm>
          <a:prstGeom prst="ellipse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3864" y="3858768"/>
            <a:ext cx="1371600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2A5C"/>
                </a:solidFill>
                <a:latin typeface="微軟正黑體"/>
                <a:ea typeface="微軟正黑體"/>
              </a:rPr>
              <a:t>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5224" y="4434840"/>
            <a:ext cx="1874519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37 段原文＋6 段整合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47488" y="3703320"/>
            <a:ext cx="2103120" cy="16459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5184648" y="3840480"/>
            <a:ext cx="457200" cy="457200"/>
          </a:xfrm>
          <a:prstGeom prst="ellipse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33288" y="3858768"/>
            <a:ext cx="1371600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2A5C"/>
                </a:solidFill>
                <a:latin typeface="微軟正黑體"/>
                <a:ea typeface="微軟正黑體"/>
              </a:rPr>
              <a:t>素材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4648" y="4434840"/>
            <a:ext cx="1874519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假發票、假領據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96912" y="3703320"/>
            <a:ext cx="2103120" cy="16459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7434071" y="3840480"/>
            <a:ext cx="457200" cy="457200"/>
          </a:xfrm>
          <a:prstGeom prst="ellipse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82712" y="3858768"/>
            <a:ext cx="1371600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2A5C"/>
                </a:solidFill>
                <a:latin typeface="微軟正黑體"/>
                <a:ea typeface="微軟正黑體"/>
              </a:rPr>
              <a:t>成果檔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1" y="4434840"/>
            <a:ext cx="1874519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工具與匯出範例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46336" y="3703320"/>
            <a:ext cx="2103120" cy="1645920"/>
          </a:xfrm>
          <a:prstGeom prst="roundRect">
            <a:avLst>
              <a:gd name="adj" fmla="val 8000"/>
            </a:avLst>
          </a:prstGeom>
          <a:solidFill>
            <a:srgbClr val="FDECEE"/>
          </a:solidFill>
          <a:ln w="15875">
            <a:solidFill>
              <a:srgbClr val="D72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9683496" y="3840480"/>
            <a:ext cx="457200" cy="457200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32136" y="3858768"/>
            <a:ext cx="1371600" cy="43891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D7263D"/>
                </a:solidFill>
                <a:latin typeface="微軟正黑體"/>
                <a:ea typeface="微軟正黑體"/>
              </a:rPr>
              <a:t>題目檔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83496" y="4434840"/>
            <a:ext cx="1874519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半成品＋規範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376672"/>
            <a:ext cx="10972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7263D"/>
                </a:solidFill>
                <a:latin typeface="微軟正黑體"/>
                <a:ea typeface="微軟正黑體"/>
              </a:rPr>
              <a:t>第 5 項題目檔附「實作規範」，動手前必讀。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292608"/>
            <a:ext cx="10424160" cy="685800"/>
          </a:xfrm>
        </p:spPr>
        <p:txBody>
          <a:bodyPr anchor="ctr"/>
          <a:lstStyle/>
          <a:p>
            <a:r>
              <a:rPr sz="3000" b="1">
                <a:solidFill>
                  <a:srgbClr val="1F2A5C"/>
                </a:solidFill>
                <a:latin typeface="微軟正黑體"/>
                <a:ea typeface="微軟正黑體"/>
              </a:rPr>
              <a:t>發想：三個登打痛點，三個設計決策</a:t>
            </a:r>
          </a:p>
        </p:txBody>
      </p:sp>
      <p:sp>
        <p:nvSpPr>
          <p:cNvPr id="3" name="Oval 2"/>
          <p:cNvSpPr/>
          <p:nvPr/>
        </p:nvSpPr>
        <p:spPr>
          <a:xfrm>
            <a:off x="502920" y="356616"/>
            <a:ext cx="566928" cy="566928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3474720" cy="27432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474720" cy="502920"/>
          </a:xfrm>
          <a:prstGeom prst="roundRect">
            <a:avLst>
              <a:gd name="adj" fmla="val 15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痛點：單據一張張登打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65960"/>
            <a:ext cx="3145536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出席費領據、發票、收據格式各異，手打易錯。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3154680"/>
            <a:ext cx="3145536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7C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172968"/>
            <a:ext cx="3017520" cy="69494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7C80"/>
                </a:solidFill>
                <a:latin typeface="微軟正黑體"/>
                <a:ea typeface="微軟正黑體"/>
              </a:rPr>
              <a:t>決策：OCR 辨識＋人工校對表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325880"/>
            <a:ext cx="3474720" cy="27432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297679" y="1325880"/>
            <a:ext cx="3474720" cy="502920"/>
          </a:xfrm>
          <a:prstGeom prst="roundRect">
            <a:avLst>
              <a:gd name="adj" fmla="val 15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34840" y="13716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痛點：個資不能外送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1" y="1965960"/>
            <a:ext cx="3145536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身分證、地址、帳號不能上傳雲端或 AI。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62271" y="3154680"/>
            <a:ext cx="3145536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72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26279" y="3172968"/>
            <a:ext cx="3017520" cy="69494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7263D"/>
                </a:solidFill>
                <a:latin typeface="微軟正黑體"/>
                <a:ea typeface="微軟正黑體"/>
              </a:rPr>
              <a:t>決策：瀏覽器本機處理，不上傳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325880"/>
            <a:ext cx="3474720" cy="27432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046719" y="1325880"/>
            <a:ext cx="3474720" cy="502920"/>
          </a:xfrm>
          <a:prstGeom prst="roundRect">
            <a:avLst>
              <a:gd name="adj" fmla="val 15000"/>
            </a:avLst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3879" y="13716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痛點：結果還要再轉檔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1" y="1965960"/>
            <a:ext cx="3145536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辨識完仍需整理成 Excel、付款憑單。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11311" y="3154680"/>
            <a:ext cx="3145536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9A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19" y="3172968"/>
            <a:ext cx="3017520" cy="69494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9A23B"/>
                </a:solidFill>
                <a:latin typeface="微軟正黑體"/>
                <a:ea typeface="微軟正黑體"/>
              </a:rPr>
              <a:t>決策：直接匯出 Excel 與 GBA XML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34340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微軟正黑體"/>
                <a:ea typeface="微軟正黑體"/>
              </a:rPr>
              <a:t>工具的第一句 prompt 就把三個決策寫進去：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2A5C"/>
                </a:solidFill>
                <a:latin typeface="微軟正黑體"/>
                <a:ea typeface="微軟正黑體"/>
              </a:rPr>
              <a:t>「請以專案方式，開發 OCR 任何輸入資料辨識，以結果資料 excel 匯出，</a:t>
            </a:r>
            <a:r>
              <a:rPr sz="1600" b="1">
                <a:solidFill>
                  <a:srgbClr val="D7263D"/>
                </a:solidFill>
                <a:latin typeface="微軟正黑體"/>
                <a:ea typeface="微軟正黑體"/>
              </a:rPr>
              <a:t>資料讀取本地不上傳到大語言模式</a:t>
            </a:r>
            <a:r>
              <a:rPr sz="1600" b="1">
                <a:solidFill>
                  <a:srgbClr val="1F2A5C"/>
                </a:solidFill>
                <a:latin typeface="微軟正黑體"/>
                <a:ea typeface="微軟正黑體"/>
              </a:rPr>
              <a:t>，的 html 網頁功能小程式」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96128"/>
            <a:ext cx="11064240" cy="566928"/>
          </a:xfrm>
          <a:prstGeom prst="roundRect">
            <a:avLst>
              <a:gd name="adj" fmla="val 20000"/>
            </a:avLst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5623560"/>
            <a:ext cx="10607040" cy="51206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限制條件不是附註，是</a:t>
            </a:r>
            <a:r>
              <a:rPr sz="1700" b="1">
                <a:solidFill>
                  <a:srgbClr val="E9A23B"/>
                </a:solidFill>
                <a:latin typeface="微軟正黑體"/>
                <a:ea typeface="微軟正黑體"/>
              </a:rPr>
              <a:t>架構的起點</a:t>
            </a: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292608"/>
            <a:ext cx="10424160" cy="685800"/>
          </a:xfrm>
        </p:spPr>
        <p:txBody>
          <a:bodyPr anchor="ctr"/>
          <a:lstStyle/>
          <a:p>
            <a:r>
              <a:rPr sz="3000" b="1">
                <a:solidFill>
                  <a:srgbClr val="1F2A5C"/>
                </a:solidFill>
                <a:latin typeface="微軟正黑體"/>
                <a:ea typeface="微軟正黑體"/>
              </a:rPr>
              <a:t>歷程：15 天、37 段 prompt、6 個階段</a:t>
            </a:r>
          </a:p>
        </p:txBody>
      </p:sp>
      <p:sp>
        <p:nvSpPr>
          <p:cNvPr id="3" name="Oval 2"/>
          <p:cNvSpPr/>
          <p:nvPr/>
        </p:nvSpPr>
        <p:spPr>
          <a:xfrm>
            <a:off x="502920" y="356616"/>
            <a:ext cx="566928" cy="566928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2240280"/>
            <a:ext cx="10561320" cy="0"/>
          </a:xfrm>
          <a:prstGeom prst="line">
            <a:avLst/>
          </a:prstGeom>
          <a:ln w="38100">
            <a:solidFill>
              <a:srgbClr val="B8C2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115568" y="1920240"/>
            <a:ext cx="640080" cy="640080"/>
          </a:xfrm>
          <a:prstGeom prst="ellipse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7830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A6270"/>
                </a:solidFill>
                <a:latin typeface="微軟正黑體"/>
                <a:ea typeface="微軟正黑體"/>
              </a:rPr>
              <a:t>10/11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88920"/>
            <a:ext cx="1783080" cy="23317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21792" y="2880360"/>
            <a:ext cx="1645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F2A5C"/>
                </a:solidFill>
                <a:latin typeface="微軟正黑體"/>
                <a:ea typeface="微軟正黑體"/>
              </a:rPr>
              <a:t>專案設定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383280"/>
            <a:ext cx="1645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B2B2B"/>
                </a:solidFill>
                <a:latin typeface="微軟正黑體"/>
                <a:ea typeface="微軟正黑體"/>
              </a:rPr>
              <a:t>P1–P2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86200"/>
            <a:ext cx="164592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先確認再匯出</a:t>
            </a:r>
          </a:p>
        </p:txBody>
      </p:sp>
      <p:sp>
        <p:nvSpPr>
          <p:cNvPr id="11" name="Oval 10"/>
          <p:cNvSpPr/>
          <p:nvPr/>
        </p:nvSpPr>
        <p:spPr>
          <a:xfrm>
            <a:off x="2990088" y="1920240"/>
            <a:ext cx="640080" cy="6400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1325880"/>
            <a:ext cx="17830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A6270"/>
                </a:solidFill>
                <a:latin typeface="微軟正黑體"/>
                <a:ea typeface="微軟正黑體"/>
              </a:rPr>
              <a:t>10/13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3160" y="2788920"/>
            <a:ext cx="1783080" cy="23317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496312" y="2880360"/>
            <a:ext cx="1645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F7C80"/>
                </a:solidFill>
                <a:latin typeface="微軟正黑體"/>
                <a:ea typeface="微軟正黑體"/>
              </a:rPr>
              <a:t>OCR 四回合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96312" y="3383280"/>
            <a:ext cx="1645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B2B2B"/>
                </a:solidFill>
                <a:latin typeface="微軟正黑體"/>
                <a:ea typeface="微軟正黑體"/>
              </a:rPr>
              <a:t>P3–P6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6312" y="3886200"/>
            <a:ext cx="164592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ocr.html v1–v4</a:t>
            </a:r>
          </a:p>
        </p:txBody>
      </p:sp>
      <p:sp>
        <p:nvSpPr>
          <p:cNvPr id="17" name="Oval 16"/>
          <p:cNvSpPr/>
          <p:nvPr/>
        </p:nvSpPr>
        <p:spPr>
          <a:xfrm>
            <a:off x="4864607" y="1920240"/>
            <a:ext cx="640080" cy="640080"/>
          </a:xfrm>
          <a:prstGeom prst="ellipse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79" y="1325880"/>
            <a:ext cx="17830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A6270"/>
                </a:solidFill>
                <a:latin typeface="微軟正黑體"/>
                <a:ea typeface="微軟正黑體"/>
              </a:rPr>
              <a:t>10/24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2788920"/>
            <a:ext cx="1783080" cy="23317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370831" y="2880360"/>
            <a:ext cx="1645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9A23B"/>
                </a:solidFill>
                <a:latin typeface="微軟正黑體"/>
                <a:ea typeface="微軟正黑體"/>
              </a:rPr>
              <a:t>受款人 XML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1" y="3383280"/>
            <a:ext cx="1645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B2B2B"/>
                </a:solidFill>
                <a:latin typeface="微軟正黑體"/>
                <a:ea typeface="微軟正黑體"/>
              </a:rPr>
              <a:t>P7–P12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0831" y="3886200"/>
            <a:ext cx="164592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發票清單核對</a:t>
            </a:r>
          </a:p>
        </p:txBody>
      </p:sp>
      <p:sp>
        <p:nvSpPr>
          <p:cNvPr id="23" name="Oval 22"/>
          <p:cNvSpPr/>
          <p:nvPr/>
        </p:nvSpPr>
        <p:spPr>
          <a:xfrm>
            <a:off x="6739127" y="1920240"/>
            <a:ext cx="640080" cy="640080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1325880"/>
            <a:ext cx="17830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A6270"/>
                </a:solidFill>
                <a:latin typeface="微軟正黑體"/>
                <a:ea typeface="微軟正黑體"/>
              </a:rPr>
              <a:t>10/24–25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199" y="2788920"/>
            <a:ext cx="1783080" cy="23317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45351" y="2880360"/>
            <a:ext cx="1645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D7263D"/>
                </a:solidFill>
                <a:latin typeface="微軟正黑體"/>
                <a:ea typeface="微軟正黑體"/>
              </a:rPr>
              <a:t>單據分類 UI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1" y="3383280"/>
            <a:ext cx="1645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B2B2B"/>
                </a:solidFill>
                <a:latin typeface="微軟正黑體"/>
                <a:ea typeface="微軟正黑體"/>
              </a:rPr>
              <a:t>P13–P26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5351" y="3886200"/>
            <a:ext cx="164592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GitHub 公開版</a:t>
            </a:r>
          </a:p>
        </p:txBody>
      </p:sp>
      <p:sp>
        <p:nvSpPr>
          <p:cNvPr id="29" name="Oval 28"/>
          <p:cNvSpPr/>
          <p:nvPr/>
        </p:nvSpPr>
        <p:spPr>
          <a:xfrm>
            <a:off x="8613647" y="1920240"/>
            <a:ext cx="640080" cy="640080"/>
          </a:xfrm>
          <a:prstGeom prst="ellipse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19" y="1325880"/>
            <a:ext cx="17830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A6270"/>
                </a:solidFill>
                <a:latin typeface="微軟正黑體"/>
                <a:ea typeface="微軟正黑體"/>
              </a:rPr>
              <a:t>10/24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19" y="2788920"/>
            <a:ext cx="1783080" cy="23317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119871" y="2880360"/>
            <a:ext cx="1645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F2A5C"/>
                </a:solidFill>
                <a:latin typeface="微軟正黑體"/>
                <a:ea typeface="微軟正黑體"/>
              </a:rPr>
              <a:t>資安與維護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1" y="3383280"/>
            <a:ext cx="1645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B2B2B"/>
                </a:solidFill>
                <a:latin typeface="微軟正黑體"/>
                <a:ea typeface="微軟正黑體"/>
              </a:rPr>
              <a:t>P27–P30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9871" y="3886200"/>
            <a:ext cx="164592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SBOM、去識別</a:t>
            </a:r>
          </a:p>
        </p:txBody>
      </p:sp>
      <p:sp>
        <p:nvSpPr>
          <p:cNvPr id="35" name="Oval 34"/>
          <p:cNvSpPr/>
          <p:nvPr/>
        </p:nvSpPr>
        <p:spPr>
          <a:xfrm>
            <a:off x="10488167" y="1920240"/>
            <a:ext cx="640080" cy="6400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1325880"/>
            <a:ext cx="17830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A6270"/>
                </a:solidFill>
                <a:latin typeface="微軟正黑體"/>
                <a:ea typeface="微軟正黑體"/>
              </a:rPr>
              <a:t>10/11–25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921240" y="2788920"/>
            <a:ext cx="1783080" cy="23317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994392" y="2880360"/>
            <a:ext cx="1645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0F7C80"/>
                </a:solidFill>
                <a:latin typeface="微軟正黑體"/>
                <a:ea typeface="微軟正黑體"/>
              </a:rPr>
              <a:t>產製教材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4392" y="3383280"/>
            <a:ext cx="164592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B2B2B"/>
                </a:solidFill>
                <a:latin typeface="微軟正黑體"/>
                <a:ea typeface="微軟正黑體"/>
              </a:rPr>
              <a:t>P31–P37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94392" y="3886200"/>
            <a:ext cx="164592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教案、簡報、本套件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596128"/>
            <a:ext cx="11064240" cy="566928"/>
          </a:xfrm>
          <a:prstGeom prst="roundRect">
            <a:avLst>
              <a:gd name="adj" fmla="val 20000"/>
            </a:avLst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77240" y="5623560"/>
            <a:ext cx="10607040" cy="51206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每一階段＝</a:t>
            </a:r>
            <a:r>
              <a:rPr sz="1700" b="1">
                <a:solidFill>
                  <a:srgbClr val="E9A23B"/>
                </a:solidFill>
                <a:latin typeface="微軟正黑體"/>
                <a:ea typeface="微軟正黑體"/>
              </a:rPr>
              <a:t>試用 → 發現不足 → 下一句 prompt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292608"/>
            <a:ext cx="10424160" cy="685800"/>
          </a:xfrm>
        </p:spPr>
        <p:txBody>
          <a:bodyPr anchor="ctr"/>
          <a:lstStyle/>
          <a:p>
            <a:r>
              <a:rPr sz="3000" b="1">
                <a:solidFill>
                  <a:srgbClr val="1F2A5C"/>
                </a:solidFill>
                <a:latin typeface="微軟正黑體"/>
                <a:ea typeface="微軟正黑體"/>
              </a:rPr>
              <a:t>工作流程：一天四回合迭代出 v4</a:t>
            </a:r>
          </a:p>
        </p:txBody>
      </p:sp>
      <p:sp>
        <p:nvSpPr>
          <p:cNvPr id="3" name="Oval 2"/>
          <p:cNvSpPr/>
          <p:nvPr/>
        </p:nvSpPr>
        <p:spPr>
          <a:xfrm>
            <a:off x="502920" y="356616"/>
            <a:ext cx="566928" cy="566928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514600" cy="30175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417319" y="1554480"/>
            <a:ext cx="777240" cy="777240"/>
          </a:xfrm>
          <a:prstGeom prst="ellipse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331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1F2A5C"/>
                </a:solidFill>
                <a:latin typeface="微軟正黑體"/>
                <a:ea typeface="微軟正黑體"/>
              </a:rPr>
              <a:t>開發工具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2331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單檔 HTML＋離線版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8 頁約 35 秒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08960" y="2697480"/>
            <a:ext cx="228600" cy="365760"/>
          </a:xfrm>
          <a:prstGeom prst="rightArrow">
            <a:avLst/>
          </a:prstGeom>
          <a:solidFill>
            <a:srgbClr val="B8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83280" y="1371600"/>
            <a:ext cx="2514600" cy="30175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251960" y="1554480"/>
            <a:ext cx="777240" cy="77724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v2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468880"/>
            <a:ext cx="2331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0F7C80"/>
                </a:solidFill>
                <a:latin typeface="微軟正黑體"/>
                <a:ea typeface="微軟正黑體"/>
              </a:rPr>
              <a:t>依格式匯出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017520"/>
            <a:ext cx="2331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同格式多檔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先問要不要合併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43600" y="2697480"/>
            <a:ext cx="228600" cy="365760"/>
          </a:xfrm>
          <a:prstGeom prst="rightArrow">
            <a:avLst/>
          </a:prstGeom>
          <a:solidFill>
            <a:srgbClr val="B8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2514600" cy="30175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086600" y="1554480"/>
            <a:ext cx="777240" cy="777240"/>
          </a:xfrm>
          <a:prstGeom prst="ellipse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v3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2468880"/>
            <a:ext cx="2331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E9A23B"/>
                </a:solidFill>
                <a:latin typeface="微軟正黑體"/>
                <a:ea typeface="微軟正黑體"/>
              </a:rPr>
              <a:t>指定欄位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3017520"/>
            <a:ext cx="2331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領據 8 欄位範本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身分證 9/15 正確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78240" y="2697480"/>
            <a:ext cx="228600" cy="365760"/>
          </a:xfrm>
          <a:prstGeom prst="rightArrow">
            <a:avLst/>
          </a:prstGeom>
          <a:solidFill>
            <a:srgbClr val="B8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52560" y="1371600"/>
            <a:ext cx="2514600" cy="30175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921240" y="1554480"/>
            <a:ext cx="777240" cy="777240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v4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468880"/>
            <a:ext cx="2331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D7263D"/>
                </a:solidFill>
                <a:latin typeface="微軟正黑體"/>
                <a:ea typeface="微軟正黑體"/>
              </a:rPr>
              <a:t>替換元件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017520"/>
            <a:ext cx="2331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移除 PaddleOCR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身分證 3/15，離線版 32→10 MB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72000"/>
            <a:ext cx="110642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270"/>
                </a:solidFill>
                <a:latin typeface="微軟正黑體"/>
                <a:ea typeface="微軟正黑體"/>
              </a:rPr>
              <a:t>手寫辨識準確度下降換來全數非中國大陸來源元件；中文手寫欄位改為留白、對照原圖人工輸入。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270"/>
                </a:solidFill>
                <a:latin typeface="微軟正黑體"/>
                <a:ea typeface="微軟正黑體"/>
              </a:rPr>
              <a:t>所有辨識數字皆為 15 張練習領據的實測結果。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96128"/>
            <a:ext cx="11064240" cy="566928"/>
          </a:xfrm>
          <a:prstGeom prst="roundRect">
            <a:avLst>
              <a:gd name="adj" fmla="val 20000"/>
            </a:avLst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7240" y="5623560"/>
            <a:ext cx="10607040" cy="51206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先做出能用的 v1，再</a:t>
            </a:r>
            <a:r>
              <a:rPr sz="1700" b="1">
                <a:solidFill>
                  <a:srgbClr val="E9A23B"/>
                </a:solidFill>
                <a:latin typeface="微軟正黑體"/>
                <a:ea typeface="微軟正黑體"/>
              </a:rPr>
              <a:t>一次改一件事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292608"/>
            <a:ext cx="10424160" cy="685800"/>
          </a:xfrm>
        </p:spPr>
        <p:txBody>
          <a:bodyPr anchor="ctr"/>
          <a:lstStyle/>
          <a:p>
            <a:r>
              <a:rPr sz="3000" b="1">
                <a:solidFill>
                  <a:srgbClr val="1F2A5C"/>
                </a:solidFill>
                <a:latin typeface="微軟正黑體"/>
                <a:ea typeface="微軟正黑體"/>
              </a:rPr>
              <a:t>提示語解剖：五格規格</a:t>
            </a:r>
          </a:p>
        </p:txBody>
      </p:sp>
      <p:sp>
        <p:nvSpPr>
          <p:cNvPr id="3" name="Oval 2"/>
          <p:cNvSpPr/>
          <p:nvPr/>
        </p:nvSpPr>
        <p:spPr>
          <a:xfrm>
            <a:off x="502920" y="356616"/>
            <a:ext cx="566928" cy="566928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1463040" cy="713232"/>
          </a:xfrm>
          <a:prstGeom prst="roundRect">
            <a:avLst>
              <a:gd name="adj" fmla="val 8000"/>
            </a:avLst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463040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目的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1280160"/>
            <a:ext cx="2377440" cy="71323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194560" y="1280160"/>
            <a:ext cx="2194560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A6270"/>
                </a:solidFill>
                <a:latin typeface="微軟正黑體"/>
                <a:ea typeface="微軟正黑體"/>
              </a:rPr>
              <a:t>做什麼工具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280160"/>
            <a:ext cx="7040880" cy="71323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09160" y="1280160"/>
            <a:ext cx="6812280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單檔 HTML，本機 OCR 任何檔案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21408"/>
            <a:ext cx="1463040" cy="713232"/>
          </a:xfrm>
          <a:prstGeom prst="roundRect">
            <a:avLst>
              <a:gd name="adj" fmla="val 8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2121408"/>
            <a:ext cx="1463040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輸入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03120" y="2121408"/>
            <a:ext cx="2377440" cy="71323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194560" y="2121408"/>
            <a:ext cx="2194560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A6270"/>
                </a:solidFill>
                <a:latin typeface="微軟正黑體"/>
                <a:ea typeface="微軟正黑體"/>
              </a:rPr>
              <a:t>給它什麼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121408"/>
            <a:ext cx="7040880" cy="71323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709160" y="2121408"/>
            <a:ext cx="6812280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圖片、PDF、Word、Excel、PPT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962656"/>
            <a:ext cx="1463040" cy="713232"/>
          </a:xfrm>
          <a:prstGeom prst="roundRect">
            <a:avLst>
              <a:gd name="adj" fmla="val 8000"/>
            </a:avLst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8640" y="2962656"/>
            <a:ext cx="1463040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輸出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03120" y="2962656"/>
            <a:ext cx="2377440" cy="71323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194560" y="2962656"/>
            <a:ext cx="2194560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A6270"/>
                </a:solidFill>
                <a:latin typeface="微軟正黑體"/>
                <a:ea typeface="微軟正黑體"/>
              </a:rPr>
              <a:t>要什麼結果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2962656"/>
            <a:ext cx="7040880" cy="71323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709160" y="2962656"/>
            <a:ext cx="6812280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Excel，欄位：# 頁 領款人 身分證…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03904"/>
            <a:ext cx="1463040" cy="713232"/>
          </a:xfrm>
          <a:prstGeom prst="roundRect">
            <a:avLst>
              <a:gd name="adj" fmla="val 8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8640" y="3803904"/>
            <a:ext cx="1463040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限制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03120" y="3803904"/>
            <a:ext cx="2377440" cy="71323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194560" y="3803904"/>
            <a:ext cx="2194560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A6270"/>
                </a:solidFill>
                <a:latin typeface="微軟正黑體"/>
                <a:ea typeface="微軟正黑體"/>
              </a:rPr>
              <a:t>不能做什麼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0" y="3803904"/>
            <a:ext cx="7040880" cy="71323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709160" y="3803904"/>
            <a:ext cx="6812280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不上傳；不用大陸元件；可離線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645152"/>
            <a:ext cx="1463040" cy="713232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8640" y="4645152"/>
            <a:ext cx="1463040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驗收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03120" y="4645152"/>
            <a:ext cx="2377440" cy="71323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194560" y="4645152"/>
            <a:ext cx="2194560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A6270"/>
                </a:solidFill>
                <a:latin typeface="微軟正黑體"/>
                <a:ea typeface="微軟正黑體"/>
              </a:rPr>
              <a:t>怎樣算完成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0" y="4645152"/>
            <a:ext cx="7040880" cy="71323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709160" y="4645152"/>
            <a:ext cx="6812280" cy="71323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假資料實測，列辨識率與元件來源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440680"/>
            <a:ext cx="10972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270"/>
                </a:solidFill>
                <a:latin typeface="微軟正黑體"/>
                <a:ea typeface="微軟正黑體"/>
              </a:rPr>
              <a:t>完整範本見 2_Prompt 檔「整合 prompt 2」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292608"/>
            <a:ext cx="10424160" cy="685800"/>
          </a:xfrm>
        </p:spPr>
        <p:txBody>
          <a:bodyPr anchor="ctr"/>
          <a:lstStyle/>
          <a:p>
            <a:r>
              <a:rPr sz="3000" b="1">
                <a:solidFill>
                  <a:srgbClr val="1F2A5C"/>
                </a:solidFill>
                <a:latin typeface="微軟正黑體"/>
                <a:ea typeface="微軟正黑體"/>
              </a:rPr>
              <a:t>六個寫法技巧：從 37 段 prompt 歸納</a:t>
            </a:r>
          </a:p>
        </p:txBody>
      </p:sp>
      <p:sp>
        <p:nvSpPr>
          <p:cNvPr id="3" name="Oval 2"/>
          <p:cNvSpPr/>
          <p:nvPr/>
        </p:nvSpPr>
        <p:spPr>
          <a:xfrm>
            <a:off x="502920" y="356616"/>
            <a:ext cx="566928" cy="566928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47472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463039"/>
            <a:ext cx="502920" cy="502920"/>
          </a:xfrm>
          <a:prstGeom prst="ellipse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463039"/>
            <a:ext cx="256032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2A5C"/>
                </a:solidFill>
                <a:latin typeface="微軟正黑體"/>
                <a:ea typeface="微軟正黑體"/>
              </a:rPr>
              <a:t>規格四要素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31546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做什麼、輸入、輸出、限制一句講完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31546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270"/>
                </a:solidFill>
                <a:latin typeface="微軟正黑體"/>
                <a:ea typeface="微軟正黑體"/>
              </a:rPr>
              <a:t>原文：P3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280160"/>
            <a:ext cx="347472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480559" y="1463039"/>
            <a:ext cx="502920" cy="50292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463039"/>
            <a:ext cx="256032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7C80"/>
                </a:solidFill>
                <a:latin typeface="微軟正黑體"/>
                <a:ea typeface="微軟正黑體"/>
              </a:rPr>
              <a:t>給範本不描述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103120"/>
            <a:ext cx="31546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貼表頭、XML 範例、截圖、規格文件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2697480"/>
            <a:ext cx="31546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270"/>
                </a:solidFill>
                <a:latin typeface="微軟正黑體"/>
                <a:ea typeface="微軟正黑體"/>
              </a:rPr>
              <a:t>原文：P5、P7、P8、P10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280160"/>
            <a:ext cx="347472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229599" y="1463039"/>
            <a:ext cx="502920" cy="502920"/>
          </a:xfrm>
          <a:prstGeom prst="ellipse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463039"/>
            <a:ext cx="256032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E9A23B"/>
                </a:solidFill>
                <a:latin typeface="微軟正黑體"/>
                <a:ea typeface="微軟正黑體"/>
              </a:rPr>
              <a:t>先確認再做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2103120"/>
            <a:ext cx="31546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先看文字或 UI 原型，一項一確認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2697480"/>
            <a:ext cx="31546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270"/>
                </a:solidFill>
                <a:latin typeface="微軟正黑體"/>
                <a:ea typeface="微軟正黑體"/>
              </a:rPr>
              <a:t>原文：P2、P13、P15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83279"/>
            <a:ext cx="347472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731520" y="3566160"/>
            <a:ext cx="502920" cy="502920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566160"/>
            <a:ext cx="256032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7263D"/>
                </a:solidFill>
                <a:latin typeface="微軟正黑體"/>
                <a:ea typeface="微軟正黑體"/>
              </a:rPr>
              <a:t>指名元件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31546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用 [ ] 框住按鈕名或畫面文字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800600"/>
            <a:ext cx="31546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270"/>
                </a:solidFill>
                <a:latin typeface="微軟正黑體"/>
                <a:ea typeface="微軟正黑體"/>
              </a:rPr>
              <a:t>原文：P17、P19、P21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383279"/>
            <a:ext cx="347472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4480559" y="3566160"/>
            <a:ext cx="502920" cy="50292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566160"/>
            <a:ext cx="256032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E8B57"/>
                </a:solidFill>
                <a:latin typeface="微軟正黑體"/>
                <a:ea typeface="微軟正黑體"/>
              </a:rPr>
              <a:t>先評估再動手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4206240"/>
            <a:ext cx="31546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「評估是否可以……」再決定做法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4800600"/>
            <a:ext cx="31546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270"/>
                </a:solidFill>
                <a:latin typeface="微軟正黑體"/>
                <a:ea typeface="微軟正黑體"/>
              </a:rPr>
              <a:t>原文：P23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3383279"/>
            <a:ext cx="3474720" cy="1874519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229599" y="3566160"/>
            <a:ext cx="502920" cy="502920"/>
          </a:xfrm>
          <a:prstGeom prst="ellipse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566160"/>
            <a:ext cx="2560320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2A5C"/>
                </a:solidFill>
                <a:latin typeface="微軟正黑體"/>
                <a:ea typeface="微軟正黑體"/>
              </a:rPr>
              <a:t>政策限制由人提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599" y="4206240"/>
            <a:ext cx="31546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元件來源、去識別化、SBOM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4800600"/>
            <a:ext cx="31546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270"/>
                </a:solidFill>
                <a:latin typeface="微軟正黑體"/>
                <a:ea typeface="微軟正黑體"/>
              </a:rPr>
              <a:t>原文：P6、P27、P28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596128"/>
            <a:ext cx="11064240" cy="566928"/>
          </a:xfrm>
          <a:prstGeom prst="roundRect">
            <a:avLst>
              <a:gd name="adj" fmla="val 20000"/>
            </a:avLst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5623560"/>
            <a:ext cx="10607040" cy="51206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短 prompt 能用，是因為</a:t>
            </a:r>
            <a:r>
              <a:rPr sz="1700" b="1">
                <a:solidFill>
                  <a:srgbClr val="E9A23B"/>
                </a:solidFill>
                <a:latin typeface="微軟正黑體"/>
                <a:ea typeface="微軟正黑體"/>
              </a:rPr>
              <a:t>前面已給過規格與範本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292608"/>
            <a:ext cx="10424160" cy="685800"/>
          </a:xfrm>
        </p:spPr>
        <p:txBody>
          <a:bodyPr anchor="ctr"/>
          <a:lstStyle/>
          <a:p>
            <a:r>
              <a:rPr sz="3000" b="1">
                <a:solidFill>
                  <a:srgbClr val="1F2A5C"/>
                </a:solidFill>
                <a:latin typeface="微軟正黑體"/>
                <a:ea typeface="微軟正黑體"/>
              </a:rPr>
              <a:t>加值應用：OCR 結果直接變付款憑單</a:t>
            </a:r>
          </a:p>
        </p:txBody>
      </p:sp>
      <p:sp>
        <p:nvSpPr>
          <p:cNvPr id="3" name="Oval 2"/>
          <p:cNvSpPr/>
          <p:nvPr/>
        </p:nvSpPr>
        <p:spPr>
          <a:xfrm>
            <a:off x="502920" y="356616"/>
            <a:ext cx="566928" cy="566928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514600" cy="21945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514600" cy="640080"/>
          </a:xfrm>
          <a:prstGeom prst="roundRect">
            <a:avLst>
              <a:gd name="adj" fmla="val 8000"/>
            </a:avLst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25146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OCR 辨識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331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發票、收據</a:t>
            </a:r>
          </a:p>
          <a:p>
            <a:pPr algn="ctr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領據影像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08960" y="2331720"/>
            <a:ext cx="228600" cy="365760"/>
          </a:xfrm>
          <a:prstGeom prst="rightArrow">
            <a:avLst/>
          </a:prstGeom>
          <a:solidFill>
            <a:srgbClr val="B8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83280" y="1417320"/>
            <a:ext cx="2514600" cy="21945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383280" y="1417320"/>
            <a:ext cx="2514600" cy="640080"/>
          </a:xfrm>
          <a:prstGeom prst="roundRect">
            <a:avLst>
              <a:gd name="adj" fmla="val 8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383280" y="1417320"/>
            <a:ext cx="25146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發票清單核對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240280"/>
            <a:ext cx="2331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賣方／買方統編</a:t>
            </a:r>
          </a:p>
          <a:p>
            <a:pPr algn="ctr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檢查碼、未稅＋稅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43600" y="2331720"/>
            <a:ext cx="228600" cy="365760"/>
          </a:xfrm>
          <a:prstGeom prst="rightArrow">
            <a:avLst/>
          </a:prstGeom>
          <a:solidFill>
            <a:srgbClr val="B8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2514600" cy="21945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6217920" y="1417320"/>
            <a:ext cx="2514600" cy="640080"/>
          </a:xfrm>
          <a:prstGeom prst="roundRect">
            <a:avLst>
              <a:gd name="adj" fmla="val 8000"/>
            </a:avLst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17920" y="1417320"/>
            <a:ext cx="25146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合併受款人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2240280"/>
            <a:ext cx="2331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同統編合併</a:t>
            </a:r>
          </a:p>
          <a:p>
            <a:pPr algn="ctr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金額自動加總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78240" y="2331720"/>
            <a:ext cx="228600" cy="365760"/>
          </a:xfrm>
          <a:prstGeom prst="rightArrow">
            <a:avLst/>
          </a:prstGeom>
          <a:solidFill>
            <a:srgbClr val="B8C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52560" y="1417320"/>
            <a:ext cx="2514600" cy="21945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9052560" y="1417320"/>
            <a:ext cx="2514600" cy="640080"/>
          </a:xfrm>
          <a:prstGeom prst="roundRect">
            <a:avLst>
              <a:gd name="adj" fmla="val 8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5146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GBA 受款人 XML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240280"/>
            <a:ext cx="233172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&lt;付款資料&gt;</a:t>
            </a:r>
          </a:p>
          <a:p>
            <a:pPr algn="ctr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&lt;發票明細&gt;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840480"/>
            <a:ext cx="118872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D7263D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840480"/>
            <a:ext cx="219456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2A5C"/>
                </a:solidFill>
                <a:latin typeface="微軟正黑體"/>
                <a:ea typeface="微軟正黑體"/>
              </a:rPr>
              <a:t>張假發票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840480"/>
            <a:ext cx="118872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D7263D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3840480"/>
            <a:ext cx="219456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2A5C"/>
                </a:solidFill>
                <a:latin typeface="微軟正黑體"/>
                <a:ea typeface="微軟正黑體"/>
              </a:rPr>
              <a:t>位受款人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840480"/>
            <a:ext cx="118872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D7263D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840480"/>
            <a:ext cx="219456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2A5C"/>
                </a:solidFill>
                <a:latin typeface="微軟正黑體"/>
                <a:ea typeface="微軟正黑體"/>
              </a:rPr>
              <a:t>筆發票明細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596128"/>
            <a:ext cx="11064240" cy="566928"/>
          </a:xfrm>
          <a:prstGeom prst="roundRect">
            <a:avLst>
              <a:gd name="adj" fmla="val 20000"/>
            </a:avLst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77240" y="5623560"/>
            <a:ext cx="10607040" cy="51206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關鍵 prompt：</a:t>
            </a:r>
            <a:r>
              <a:rPr sz="1700" b="1">
                <a:solidFill>
                  <a:srgbClr val="E9A23B"/>
                </a:solidFill>
                <a:latin typeface="微軟正黑體"/>
                <a:ea typeface="微軟正黑體"/>
              </a:rPr>
              <a:t>「依上傳檔案，生成匯入受款人 XML，並結合 OCR 的應用」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292608"/>
            <a:ext cx="10424160" cy="685800"/>
          </a:xfrm>
        </p:spPr>
        <p:txBody>
          <a:bodyPr anchor="ctr"/>
          <a:lstStyle/>
          <a:p>
            <a:r>
              <a:rPr sz="3000" b="1">
                <a:solidFill>
                  <a:srgbClr val="1F2A5C"/>
                </a:solidFill>
                <a:latin typeface="微軟正黑體"/>
                <a:ea typeface="微軟正黑體"/>
              </a:rPr>
              <a:t>單據分類網頁：先要 UI，再一項一確認</a:t>
            </a:r>
          </a:p>
        </p:txBody>
      </p:sp>
      <p:sp>
        <p:nvSpPr>
          <p:cNvPr id="3" name="Oval 2"/>
          <p:cNvSpPr/>
          <p:nvPr/>
        </p:nvSpPr>
        <p:spPr>
          <a:xfrm>
            <a:off x="502920" y="356616"/>
            <a:ext cx="566928" cy="566928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103120" cy="16002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325880" y="1444752"/>
            <a:ext cx="548640" cy="548640"/>
          </a:xfrm>
          <a:prstGeom prst="ellipse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57400"/>
            <a:ext cx="20116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F2A5C"/>
                </a:solidFill>
                <a:latin typeface="微軟正黑體"/>
                <a:ea typeface="微軟正黑體"/>
              </a:rPr>
              <a:t>上傳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20116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本機、貼上、雲端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98064" y="1325880"/>
            <a:ext cx="2103120" cy="16002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3575304" y="1444752"/>
            <a:ext cx="548640" cy="548640"/>
          </a:xfrm>
          <a:prstGeom prst="ellipse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3784" y="2057400"/>
            <a:ext cx="20116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F2A5C"/>
                </a:solidFill>
                <a:latin typeface="微軟正黑體"/>
                <a:ea typeface="微軟正黑體"/>
              </a:rPr>
              <a:t>OCR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43784" y="2468880"/>
            <a:ext cx="20116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真實檔或示範資料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47488" y="1325880"/>
            <a:ext cx="2103120" cy="16002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824727" y="1444752"/>
            <a:ext cx="548640" cy="548640"/>
          </a:xfrm>
          <a:prstGeom prst="ellipse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3207" y="2057400"/>
            <a:ext cx="20116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F2A5C"/>
                </a:solidFill>
                <a:latin typeface="微軟正黑體"/>
                <a:ea typeface="微軟正黑體"/>
              </a:rPr>
              <a:t>分類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3207" y="2468880"/>
            <a:ext cx="20116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發票、收據、高鐵…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96912" y="1325880"/>
            <a:ext cx="2103120" cy="16002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074152" y="1444752"/>
            <a:ext cx="548640" cy="548640"/>
          </a:xfrm>
          <a:prstGeom prst="ellipse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2631" y="2057400"/>
            <a:ext cx="20116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F2A5C"/>
                </a:solidFill>
                <a:latin typeface="微軟正黑體"/>
                <a:ea typeface="微軟正黑體"/>
              </a:rPr>
              <a:t>欄位核對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2631" y="2468880"/>
            <a:ext cx="20116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缺漏標黃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46336" y="1325880"/>
            <a:ext cx="2103120" cy="16002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323576" y="1444752"/>
            <a:ext cx="548640" cy="548640"/>
          </a:xfrm>
          <a:prstGeom prst="ellipse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92056" y="2057400"/>
            <a:ext cx="20116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F2A5C"/>
                </a:solidFill>
                <a:latin typeface="微軟正黑體"/>
                <a:ea typeface="微軟正黑體"/>
              </a:rPr>
              <a:t>匯出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2056" y="2468880"/>
            <a:ext cx="20116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B2B2B"/>
                </a:solidFill>
                <a:latin typeface="微軟正黑體"/>
                <a:ea typeface="微軟正黑體"/>
              </a:rPr>
              <a:t>Excel、GBA XML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154680"/>
            <a:ext cx="109728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2A5C"/>
                </a:solidFill>
                <a:latin typeface="微軟正黑體"/>
                <a:ea typeface="微軟正黑體"/>
              </a:rPr>
              <a:t>上線後的逐項修改（每次一句）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657600"/>
            <a:ext cx="3474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7C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" y="3657600"/>
            <a:ext cx="320040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7C80"/>
                </a:solidFill>
                <a:latin typeface="微軟正黑體"/>
                <a:ea typeface="微軟正黑體"/>
              </a:rPr>
              <a:t>選帳號彈窗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79" y="3657600"/>
            <a:ext cx="3474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7C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434840" y="3657600"/>
            <a:ext cx="320040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7C80"/>
                </a:solidFill>
                <a:latin typeface="微軟正黑體"/>
                <a:ea typeface="微軟正黑體"/>
              </a:rPr>
              <a:t>刪除未分類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3657600"/>
            <a:ext cx="3474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7C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83879" y="3657600"/>
            <a:ext cx="320040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7C80"/>
                </a:solidFill>
                <a:latin typeface="微軟正黑體"/>
                <a:ea typeface="微軟正黑體"/>
              </a:rPr>
              <a:t>一人多張發票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526280"/>
            <a:ext cx="3474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7C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85800" y="4526280"/>
            <a:ext cx="320040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7C80"/>
                </a:solidFill>
                <a:latin typeface="微軟正黑體"/>
                <a:ea typeface="微軟正黑體"/>
              </a:rPr>
              <a:t>查拒往（工程會）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79" y="4526280"/>
            <a:ext cx="3474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7C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434840" y="4526280"/>
            <a:ext cx="320040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7C80"/>
                </a:solidFill>
                <a:latin typeface="微軟正黑體"/>
                <a:ea typeface="微軟正黑體"/>
              </a:rPr>
              <a:t>查銀行代號（央行）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19" y="4526280"/>
            <a:ext cx="3474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7C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183879" y="4526280"/>
            <a:ext cx="3200400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7C80"/>
                </a:solidFill>
                <a:latin typeface="微軟正黑體"/>
                <a:ea typeface="微軟正黑體"/>
              </a:rPr>
              <a:t>帳號 16 碼補零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596128"/>
            <a:ext cx="11064240" cy="566928"/>
          </a:xfrm>
          <a:prstGeom prst="roundRect">
            <a:avLst>
              <a:gd name="adj" fmla="val 20000"/>
            </a:avLst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77240" y="5623560"/>
            <a:ext cx="10607040" cy="51206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一句「</a:t>
            </a:r>
            <a:r>
              <a:rPr sz="1700" b="1">
                <a:solidFill>
                  <a:srgbClr val="E9A23B"/>
                </a:solidFill>
                <a:latin typeface="微軟正黑體"/>
                <a:ea typeface="微軟正黑體"/>
              </a:rPr>
              <a:t>完成每個一一確認</a:t>
            </a: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」，把大工程切成可驗收的小段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292608"/>
            <a:ext cx="10424160" cy="685800"/>
          </a:xfrm>
        </p:spPr>
        <p:txBody>
          <a:bodyPr anchor="ctr"/>
          <a:lstStyle/>
          <a:p>
            <a:r>
              <a:rPr sz="3000" b="1">
                <a:solidFill>
                  <a:srgbClr val="1F2A5C"/>
                </a:solidFill>
                <a:latin typeface="微軟正黑體"/>
                <a:ea typeface="微軟正黑體"/>
              </a:rPr>
              <a:t>資安三關：開發小工具一定要問</a:t>
            </a:r>
          </a:p>
        </p:txBody>
      </p:sp>
      <p:sp>
        <p:nvSpPr>
          <p:cNvPr id="3" name="Oval 2"/>
          <p:cNvSpPr/>
          <p:nvPr/>
        </p:nvSpPr>
        <p:spPr>
          <a:xfrm>
            <a:off x="502920" y="356616"/>
            <a:ext cx="566928" cy="566928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3474720" cy="23774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474720" cy="502920"/>
          </a:xfrm>
          <a:prstGeom prst="roundRect">
            <a:avLst>
              <a:gd name="adj" fmla="val 15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不上傳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65960"/>
            <a:ext cx="3145536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微軟正黑體"/>
                <a:ea typeface="微軟正黑體"/>
              </a:rPr>
              <a:t>資料只在瀏覽器處理；網頁 CSP 只允許一個 CDN；離線版完全不連網。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325880"/>
            <a:ext cx="3474720" cy="23774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4297679" y="1325880"/>
            <a:ext cx="3474720" cy="502920"/>
          </a:xfrm>
          <a:prstGeom prst="roundRect">
            <a:avLst>
              <a:gd name="adj" fmla="val 15000"/>
            </a:avLst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13716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元件來源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1" y="1965960"/>
            <a:ext cx="3145536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微軟正黑體"/>
                <a:ea typeface="微軟正黑體"/>
              </a:rPr>
              <a:t>SBOM 列 29 項元件的版本、授權、來源國；移除 PaddleOCR、OpenCC；字型改用微軟正黑體。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325880"/>
            <a:ext cx="3474720" cy="23774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046719" y="1325880"/>
            <a:ext cx="3474720" cy="502920"/>
          </a:xfrm>
          <a:prstGeom prst="roundRect">
            <a:avLst>
              <a:gd name="adj" fmla="val 15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183879" y="13716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去識別化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1" y="1965960"/>
            <a:ext cx="3145536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B2B"/>
                </a:solidFill>
                <a:latin typeface="微軟正黑體"/>
                <a:ea typeface="微軟正黑體"/>
              </a:rPr>
              <a:t>公開版、教材一律假資料；機關名稱顯示 OOO單位；「中央補助註記」改為「補助註記」。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023360"/>
            <a:ext cx="1097280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270"/>
                </a:solidFill>
                <a:latin typeface="微軟正黑體"/>
                <a:ea typeface="微軟正黑體"/>
              </a:rPr>
              <a:t>上課前待辦：Windows 啟動檔 start-windows.bat 尚未在實機測過，請講師先試一次。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96128"/>
            <a:ext cx="11064240" cy="566928"/>
          </a:xfrm>
          <a:prstGeom prst="roundRect">
            <a:avLst>
              <a:gd name="adj" fmla="val 20000"/>
            </a:avLst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5623560"/>
            <a:ext cx="10607040" cy="51206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政策限制要</a:t>
            </a:r>
            <a:r>
              <a:rPr sz="1700" b="1">
                <a:solidFill>
                  <a:srgbClr val="E9A23B"/>
                </a:solidFill>
                <a:latin typeface="微軟正黑體"/>
                <a:ea typeface="微軟正黑體"/>
              </a:rPr>
              <a:t>由人寫進 prompt</a:t>
            </a: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，並要 AI 拿出證據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292608"/>
            <a:ext cx="10424160" cy="685800"/>
          </a:xfrm>
        </p:spPr>
        <p:txBody>
          <a:bodyPr anchor="ctr"/>
          <a:lstStyle/>
          <a:p>
            <a:r>
              <a:rPr sz="3000" b="1">
                <a:solidFill>
                  <a:srgbClr val="1F2A5C"/>
                </a:solidFill>
                <a:latin typeface="微軟正黑體"/>
                <a:ea typeface="微軟正黑體"/>
              </a:rPr>
              <a:t>效益試算：代入自己的數字</a:t>
            </a:r>
          </a:p>
        </p:txBody>
      </p:sp>
      <p:sp>
        <p:nvSpPr>
          <p:cNvPr id="3" name="Oval 2"/>
          <p:cNvSpPr/>
          <p:nvPr/>
        </p:nvSpPr>
        <p:spPr>
          <a:xfrm>
            <a:off x="502920" y="356616"/>
            <a:ext cx="566928" cy="566928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11887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1F2A5C"/>
                </a:solidFill>
                <a:latin typeface="微軟正黑體"/>
                <a:ea typeface="微軟正黑體"/>
              </a:rPr>
              <a:t>每月節省時數 ＝ 每月單據張數 × （人工登打分鐘 − 校對分鐘） ÷ 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347472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>
                <a:solidFill>
                  <a:srgbClr val="D7263D"/>
                </a:solidFill>
                <a:latin typeface="微軟正黑體"/>
                <a:ea typeface="微軟正黑體"/>
              </a:rPr>
              <a:t>35 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34747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8 頁掃描檔辨識時間（v1 實測）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2834640"/>
            <a:ext cx="347472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>
                <a:solidFill>
                  <a:srgbClr val="D7263D"/>
                </a:solidFill>
                <a:latin typeface="微軟正黑體"/>
                <a:ea typeface="微軟正黑體"/>
              </a:rPr>
              <a:t>約 5 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79" y="3794760"/>
            <a:ext cx="34747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4 張單據辨識＋分類（分類網頁實測）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2834640"/>
            <a:ext cx="347472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>
                <a:solidFill>
                  <a:srgbClr val="D7263D"/>
                </a:solidFill>
                <a:latin typeface="微軟正黑體"/>
                <a:ea typeface="微軟正黑體"/>
              </a:rPr>
              <a:t>0 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9" y="3794760"/>
            <a:ext cx="347472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資料上傳到外部伺服器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1097280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270"/>
                </a:solidFill>
                <a:latin typeface="微軟正黑體"/>
                <a:ea typeface="微軟正黑體"/>
              </a:rPr>
              <a:t>手寫欄位仍需人工校對；效益主要來自印刷字單據與自動整理成 XML。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96128"/>
            <a:ext cx="11064240" cy="566928"/>
          </a:xfrm>
          <a:prstGeom prst="roundRect">
            <a:avLst>
              <a:gd name="adj" fmla="val 20000"/>
            </a:avLst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5623560"/>
            <a:ext cx="10607040" cy="51206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效益＝</a:t>
            </a:r>
            <a:r>
              <a:rPr sz="1700" b="1">
                <a:solidFill>
                  <a:srgbClr val="E9A23B"/>
                </a:solidFill>
                <a:latin typeface="微軟正黑體"/>
                <a:ea typeface="微軟正黑體"/>
              </a:rPr>
              <a:t>省下的登打＋少掉的轉檔</a:t>
            </a: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，校對時間不能省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292608"/>
            <a:ext cx="10424160" cy="685800"/>
          </a:xfrm>
        </p:spPr>
        <p:txBody>
          <a:bodyPr anchor="ctr"/>
          <a:lstStyle/>
          <a:p>
            <a:r>
              <a:rPr sz="3000" b="1">
                <a:solidFill>
                  <a:srgbClr val="1F2A5C"/>
                </a:solidFill>
                <a:latin typeface="微軟正黑體"/>
                <a:ea typeface="微軟正黑體"/>
              </a:rPr>
              <a:t>實作 30 分：三組分層任務</a:t>
            </a:r>
          </a:p>
        </p:txBody>
      </p:sp>
      <p:sp>
        <p:nvSpPr>
          <p:cNvPr id="3" name="Oval 2"/>
          <p:cNvSpPr/>
          <p:nvPr/>
        </p:nvSpPr>
        <p:spPr>
          <a:xfrm>
            <a:off x="502920" y="356616"/>
            <a:ext cx="566928" cy="566928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3474720" cy="32004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474720" cy="502920"/>
          </a:xfrm>
          <a:prstGeom prst="roundRect">
            <a:avLst>
              <a:gd name="adj" fmla="val 15000"/>
            </a:avLst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A 組｜未開發經驗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65960"/>
            <a:ext cx="3145536" cy="2468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用整合 prompt 1 設定摘錄專案，摘錄假領據並確認後匯出 Word。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977639"/>
            <a:ext cx="3108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2A5C"/>
                </a:solidFill>
                <a:latin typeface="微軟正黑體"/>
                <a:ea typeface="微軟正黑體"/>
              </a:rPr>
              <a:t>素材：假領據 1、2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325880"/>
            <a:ext cx="3474720" cy="32004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4297679" y="1325880"/>
            <a:ext cx="3474720" cy="502920"/>
          </a:xfrm>
          <a:prstGeom prst="roundRect">
            <a:avLst>
              <a:gd name="adj" fmla="val 15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434840" y="13716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B 組｜用過對話式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1" y="1965960"/>
            <a:ext cx="3145536" cy="2468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補完半成品 prompt 2（五格規格），改成自己單位的欄位。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1" y="3977639"/>
            <a:ext cx="3108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F7C80"/>
                </a:solidFill>
                <a:latin typeface="微軟正黑體"/>
                <a:ea typeface="微軟正黑體"/>
              </a:rPr>
              <a:t>素材：假發票 3 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325880"/>
            <a:ext cx="3474720" cy="32004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8046719" y="1325880"/>
            <a:ext cx="3474720" cy="502920"/>
          </a:xfrm>
          <a:prstGeom prst="roundRect">
            <a:avLst>
              <a:gd name="adj" fmla="val 15000"/>
            </a:avLst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83879" y="13716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C 組｜有開發經驗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965960"/>
            <a:ext cx="3145536" cy="2468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用整合 prompt 3 產生受款人 XML，對照成果檔檢核差異。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1" y="3977639"/>
            <a:ext cx="3108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9A23B"/>
                </a:solidFill>
                <a:latin typeface="微軟正黑體"/>
                <a:ea typeface="微軟正黑體"/>
              </a:rPr>
              <a:t>素材＋成果檔 XML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0916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DECEE"/>
          </a:solidFill>
          <a:ln w="15875">
            <a:solidFill>
              <a:srgbClr val="D72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31520" y="47091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D7263D"/>
                </a:solidFill>
                <a:latin typeface="微軟正黑體"/>
                <a:ea typeface="微軟正黑體"/>
              </a:rPr>
              <a:t>實作規範：</a:t>
            </a:r>
            <a:r>
              <a:rPr sz="1600" b="0">
                <a:solidFill>
                  <a:srgbClr val="2B2B2B"/>
                </a:solidFill>
                <a:latin typeface="微軟正黑體"/>
                <a:ea typeface="微軟正黑體"/>
              </a:rPr>
              <a:t>只用素材包的假資料；不得上傳真實單據或個資；產出先自行核對再分享。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292608"/>
            <a:ext cx="10424160" cy="685800"/>
          </a:xfrm>
        </p:spPr>
        <p:txBody>
          <a:bodyPr anchor="ctr"/>
          <a:lstStyle/>
          <a:p>
            <a:r>
              <a:rPr sz="3000" b="1">
                <a:solidFill>
                  <a:srgbClr val="1F2A5C"/>
                </a:solidFill>
                <a:latin typeface="微軟正黑體"/>
                <a:ea typeface="微軟正黑體"/>
              </a:rPr>
              <a:t>維護與精進：工具交出去之後</a:t>
            </a:r>
          </a:p>
        </p:txBody>
      </p:sp>
      <p:sp>
        <p:nvSpPr>
          <p:cNvPr id="3" name="Oval 2"/>
          <p:cNvSpPr/>
          <p:nvPr/>
        </p:nvSpPr>
        <p:spPr>
          <a:xfrm>
            <a:off x="502920" y="356616"/>
            <a:ext cx="566928" cy="566928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3474720" cy="502920"/>
          </a:xfrm>
          <a:prstGeom prst="roundRect">
            <a:avLst>
              <a:gd name="adj" fmla="val 15000"/>
            </a:avLst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回報錯誤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65960"/>
            <a:ext cx="3145536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第 N 步 [按鈕] 出現 [錯誤訊息]，附截圖；預期應為……；修好後用假資料重測。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32588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4297679" y="1325880"/>
            <a:ext cx="3474720" cy="502920"/>
          </a:xfrm>
          <a:prstGeom prst="roundRect">
            <a:avLst>
              <a:gd name="adj" fmla="val 15000"/>
            </a:avLst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13716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新增範本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1" y="1965960"/>
            <a:ext cx="3145536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新增〔單據名稱〕範本，附假資料樣本，匯出欄位：……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325880"/>
            <a:ext cx="3474720" cy="20116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046719" y="1325880"/>
            <a:ext cx="3474720" cy="502920"/>
          </a:xfrm>
          <a:prstGeom prst="roundRect">
            <a:avLst>
              <a:gd name="adj" fmla="val 15000"/>
            </a:avLst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183879" y="1371600"/>
            <a:ext cx="3200400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定期盤點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1" y="1965960"/>
            <a:ext cx="3145536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重新產生 SBOM，列出新增或改版元件及來源國。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657600"/>
            <a:ext cx="109728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2A5C"/>
                </a:solidFill>
                <a:latin typeface="微軟正黑體"/>
                <a:ea typeface="微軟正黑體"/>
              </a:rPr>
              <a:t>後續精進方向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手寫中文欄位：評估 Windows 內建 OCR 等非大陸來源方案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查銀行代號：確認央行查詢頁能否用網址帶入銀行名稱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596128"/>
            <a:ext cx="11064240" cy="566928"/>
          </a:xfrm>
          <a:prstGeom prst="roundRect">
            <a:avLst>
              <a:gd name="adj" fmla="val 20000"/>
            </a:avLst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5623560"/>
            <a:ext cx="10607040" cy="51206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每次修改都</a:t>
            </a:r>
            <a:r>
              <a:rPr sz="1700" b="1">
                <a:solidFill>
                  <a:srgbClr val="E9A23B"/>
                </a:solidFill>
                <a:latin typeface="微軟正黑體"/>
                <a:ea typeface="微軟正黑體"/>
              </a:rPr>
              <a:t>同步更新線上版、離線版與 SBOM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292608"/>
            <a:ext cx="10424160" cy="685800"/>
          </a:xfrm>
        </p:spPr>
        <p:txBody>
          <a:bodyPr anchor="ctr"/>
          <a:lstStyle/>
          <a:p>
            <a:r>
              <a:rPr sz="3000" b="1">
                <a:solidFill>
                  <a:srgbClr val="1F2A5C"/>
                </a:solidFill>
                <a:latin typeface="微軟正黑體"/>
                <a:ea typeface="微軟正黑體"/>
              </a:rPr>
              <a:t>結語：動手前先問四句</a:t>
            </a:r>
          </a:p>
        </p:txBody>
      </p:sp>
      <p:sp>
        <p:nvSpPr>
          <p:cNvPr id="3" name="Oval 2"/>
          <p:cNvSpPr/>
          <p:nvPr/>
        </p:nvSpPr>
        <p:spPr>
          <a:xfrm>
            <a:off x="502920" y="356616"/>
            <a:ext cx="566928" cy="566928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5440680" cy="1737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1737360"/>
            <a:ext cx="868680" cy="868680"/>
          </a:xfrm>
          <a:prstGeom prst="ellipse">
            <a:avLst/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先問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645919"/>
            <a:ext cx="40233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2A5C"/>
                </a:solidFill>
                <a:latin typeface="微軟正黑體"/>
                <a:ea typeface="微軟正黑體"/>
              </a:rPr>
              <a:t>要解決哪個痛點？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40280"/>
            <a:ext cx="40233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說得出省下哪一段工作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25880"/>
            <a:ext cx="5440680" cy="1737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400800" y="1737360"/>
            <a:ext cx="868680" cy="868680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先問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645919"/>
            <a:ext cx="40233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D7263D"/>
                </a:solidFill>
                <a:latin typeface="微軟正黑體"/>
                <a:ea typeface="微軟正黑體"/>
              </a:rPr>
              <a:t>資料會不會離開電腦？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240280"/>
            <a:ext cx="40233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不上傳、可離線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91839"/>
            <a:ext cx="5440680" cy="1737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77240" y="3703320"/>
            <a:ext cx="868680" cy="868680"/>
          </a:xfrm>
          <a:prstGeom prst="ellipse">
            <a:avLst/>
          </a:prstGeom>
          <a:solidFill>
            <a:srgbClr val="0F7C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先問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11879"/>
            <a:ext cx="40233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7C80"/>
                </a:solidFill>
                <a:latin typeface="微軟正黑體"/>
                <a:ea typeface="微軟正黑體"/>
              </a:rPr>
              <a:t>元件從哪裡來？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06240"/>
            <a:ext cx="40233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要 SBOM 當證據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291839"/>
            <a:ext cx="5440680" cy="173736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400800" y="3703320"/>
            <a:ext cx="868680" cy="868680"/>
          </a:xfrm>
          <a:prstGeom prst="ellipse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先問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3611879"/>
            <a:ext cx="40233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E9A23B"/>
                </a:solidFill>
                <a:latin typeface="微軟正黑體"/>
                <a:ea typeface="微軟正黑體"/>
              </a:rPr>
              <a:t>怎樣算完成？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206240"/>
            <a:ext cx="40233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B2B2B"/>
                </a:solidFill>
                <a:latin typeface="微軟正黑體"/>
                <a:ea typeface="微軟正黑體"/>
              </a:rPr>
              <a:t>假資料實測＋人工確認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96128"/>
            <a:ext cx="11064240" cy="566928"/>
          </a:xfrm>
          <a:prstGeom prst="roundRect">
            <a:avLst>
              <a:gd name="adj" fmla="val 20000"/>
            </a:avLst>
          </a:prstGeom>
          <a:solidFill>
            <a:srgbClr val="1F2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10607040" cy="51206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  <a:ea typeface="微軟正黑體"/>
              </a:rPr>
              <a:t>Q &amp; A　｜　教材：</a:t>
            </a:r>
            <a:r>
              <a:rPr sz="1700" b="1">
                <a:solidFill>
                  <a:srgbClr val="E9A23B"/>
                </a:solidFill>
                <a:latin typeface="微軟正黑體"/>
                <a:ea typeface="微軟正黑體"/>
              </a:rPr>
              <a:t>簡報・Prompt・素材・成果檔・題目檔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訂 5">
      <a:majorFont>
        <a:latin typeface="Calibri Light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679</TotalTime>
  <Words>9</Words>
  <Application>Microsoft Office PowerPoint</Application>
  <PresentationFormat>寬螢幕</PresentationFormat>
  <Paragraphs>3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微軟正黑體</vt:lpstr>
      <vt:lpstr>Arial</vt:lpstr>
      <vt:lpstr>Calibri</vt:lpstr>
      <vt:lpstr>Calibri Light</vt:lpstr>
      <vt:lpstr>Office 佈景主題</vt:lpstr>
      <vt:lpstr>PowerPoint 簡報</vt:lpstr>
      <vt:lpstr>我是標題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許傳龍</dc:creator>
  <cp:lastModifiedBy>許傳龍</cp:lastModifiedBy>
  <cp:revision>16</cp:revision>
  <dcterms:created xsi:type="dcterms:W3CDTF">2023-09-13T10:19:26Z</dcterms:created>
  <dcterms:modified xsi:type="dcterms:W3CDTF">2026-10-15T01:19:20Z</dcterms:modified>
</cp:coreProperties>
</file>